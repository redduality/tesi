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3"/>
  </p:notesMasterIdLst>
  <p:sldIdLst>
    <p:sldId id="284" r:id="rId5"/>
    <p:sldId id="285" r:id="rId6"/>
    <p:sldId id="283" r:id="rId7"/>
    <p:sldId id="287" r:id="rId8"/>
    <p:sldId id="289" r:id="rId9"/>
    <p:sldId id="286" r:id="rId10"/>
    <p:sldId id="288" r:id="rId11"/>
    <p:sldId id="292" r:id="rId12"/>
    <p:sldId id="290" r:id="rId13"/>
    <p:sldId id="293" r:id="rId14"/>
    <p:sldId id="291" r:id="rId15"/>
    <p:sldId id="294" r:id="rId16"/>
    <p:sldId id="295" r:id="rId17"/>
    <p:sldId id="296" r:id="rId18"/>
    <p:sldId id="297" r:id="rId19"/>
    <p:sldId id="300" r:id="rId20"/>
    <p:sldId id="298" r:id="rId21"/>
    <p:sldId id="299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81BF"/>
    <a:srgbClr val="F9CB3B"/>
    <a:srgbClr val="F80A60"/>
    <a:srgbClr val="050F2E"/>
    <a:srgbClr val="1DD9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49DEF05-2BE3-4362-9809-7913290010F8}" v="1066" dt="2024-07-01T13:39:45.330"/>
    <p1510:client id="{773DC7BE-E2C7-4FB9-A629-F60525D591D0}" v="651" dt="2024-07-01T14:10:20.3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5190" autoAdjust="0"/>
  </p:normalViewPr>
  <p:slideViewPr>
    <p:cSldViewPr snapToGrid="0">
      <p:cViewPr varScale="1">
        <p:scale>
          <a:sx n="96" d="100"/>
          <a:sy n="96" d="100"/>
        </p:scale>
        <p:origin x="1116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16B5E9-3575-4B01-B029-558A2794B23F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9AAD46-EB53-4006-96F2-2D2B54701D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28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Vuole analizzare le</a:t>
            </a:r>
          </a:p>
          <a:p>
            <a:r>
              <a:rPr lang="it-IT" dirty="0"/>
              <a:t>scelte implementative e progettuali richieste</a:t>
            </a:r>
            <a:br>
              <a:rPr lang="it-IT" dirty="0"/>
            </a:br>
            <a:r>
              <a:rPr lang="it-IT" dirty="0"/>
              <a:t>per sviluppare un applicativo scalabile,</a:t>
            </a:r>
          </a:p>
          <a:p>
            <a:r>
              <a:rPr lang="it-IT" dirty="0"/>
              <a:t>In particolare integrando tra loro le tecnologie in cloud </a:t>
            </a:r>
          </a:p>
          <a:p>
            <a:r>
              <a:rPr lang="it-IT" dirty="0"/>
              <a:t>Distribuito in cloud.</a:t>
            </a:r>
          </a:p>
          <a:p>
            <a:endParaRPr lang="it-IT" dirty="0"/>
          </a:p>
          <a:p>
            <a:r>
              <a:rPr lang="it-IT" dirty="0"/>
              <a:t>Cloud</a:t>
            </a:r>
          </a:p>
          <a:p>
            <a:r>
              <a:rPr lang="it-IT" dirty="0"/>
              <a:t>Integrazione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Come nell’analisi dello sviluppo scalabile tutte le scelte sono integrate, e difficilmente </a:t>
            </a:r>
          </a:p>
          <a:p>
            <a:r>
              <a:rPr lang="it-IT" dirty="0"/>
              <a:t>Bisogna conoscere le proprietà di tutte le varie tecnologie per far si che si integrino al meglio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290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</a:t>
            </a:r>
            <a:r>
              <a:rPr lang="en-US" dirty="0" err="1"/>
              <a:t>incentra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42157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Clr>
                <a:srgbClr val="F9CB3B"/>
              </a:buClr>
              <a:buFont typeface="Arial" panose="020B0604020202020204" pitchFamily="34" charset="0"/>
              <a:buNone/>
            </a:pPr>
            <a:r>
              <a:rPr lang="it-IT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Intervento diretto dell’utente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615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C23D3-C480-4118-DA23-F8187B311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2491E7-4542-3037-A3E4-C62EB516AD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A2633E-731E-5B46-C1AA-DB97EB2AFE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Analisi</a:t>
            </a:r>
            <a:r>
              <a:rPr lang="en-US" dirty="0"/>
              <a:t> del </a:t>
            </a:r>
            <a:r>
              <a:rPr lang="en-US" dirty="0" err="1"/>
              <a:t>problema</a:t>
            </a:r>
            <a:r>
              <a:rPr lang="en-US" dirty="0"/>
              <a:t> :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d’uso</a:t>
            </a:r>
            <a:r>
              <a:rPr lang="en-US" dirty="0"/>
              <a:t> e </a:t>
            </a:r>
            <a:r>
              <a:rPr lang="en-US" dirty="0" err="1"/>
              <a:t>requisiti</a:t>
            </a:r>
            <a:endParaRPr lang="en-US" dirty="0"/>
          </a:p>
          <a:p>
            <a:r>
              <a:rPr lang="en-US" dirty="0"/>
              <a:t>Cosa </a:t>
            </a:r>
            <a:r>
              <a:rPr lang="en-US" dirty="0" err="1"/>
              <a:t>sono</a:t>
            </a:r>
            <a:r>
              <a:rPr lang="en-US" dirty="0"/>
              <a:t> I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d’uso</a:t>
            </a:r>
            <a:endParaRPr lang="en-US" dirty="0"/>
          </a:p>
          <a:p>
            <a:r>
              <a:rPr lang="en-US" dirty="0" err="1"/>
              <a:t>Requisiti</a:t>
            </a:r>
            <a:r>
              <a:rPr lang="en-US" dirty="0"/>
              <a:t> - </a:t>
            </a:r>
            <a:r>
              <a:rPr lang="en-US" dirty="0" err="1"/>
              <a:t>scalabilità</a:t>
            </a:r>
            <a:endParaRPr lang="en-US" dirty="0"/>
          </a:p>
          <a:p>
            <a:r>
              <a:rPr lang="en-US" dirty="0" err="1"/>
              <a:t>Perchè</a:t>
            </a:r>
            <a:r>
              <a:rPr lang="en-US" dirty="0"/>
              <a:t> </a:t>
            </a:r>
            <a:r>
              <a:rPr lang="en-US" dirty="0" err="1"/>
              <a:t>soffermarsi</a:t>
            </a:r>
            <a:r>
              <a:rPr lang="en-US" dirty="0"/>
              <a:t> </a:t>
            </a:r>
            <a:r>
              <a:rPr lang="en-US" dirty="0" err="1"/>
              <a:t>così</a:t>
            </a:r>
            <a:r>
              <a:rPr lang="en-US" dirty="0"/>
              <a:t> tanto sui </a:t>
            </a:r>
            <a:r>
              <a:rPr lang="en-US" dirty="0" err="1"/>
              <a:t>casi</a:t>
            </a:r>
            <a:r>
              <a:rPr lang="en-US" dirty="0"/>
              <a:t> </a:t>
            </a:r>
            <a:r>
              <a:rPr lang="en-US" dirty="0" err="1"/>
              <a:t>d’uso</a:t>
            </a:r>
            <a:r>
              <a:rPr lang="en-US" dirty="0"/>
              <a:t>?</a:t>
            </a:r>
          </a:p>
          <a:p>
            <a:r>
              <a:rPr lang="en-US" dirty="0"/>
              <a:t>La </a:t>
            </a:r>
            <a:r>
              <a:rPr lang="en-US" dirty="0" err="1"/>
              <a:t>relazione</a:t>
            </a:r>
            <a:r>
              <a:rPr lang="en-US" dirty="0"/>
              <a:t> e come </a:t>
            </a:r>
            <a:r>
              <a:rPr lang="en-US" dirty="0" err="1"/>
              <a:t>viene</a:t>
            </a:r>
            <a:r>
              <a:rPr lang="en-US" dirty="0"/>
              <a:t> poi </a:t>
            </a:r>
            <a:r>
              <a:rPr lang="en-US" dirty="0" err="1"/>
              <a:t>salvata</a:t>
            </a:r>
            <a:r>
              <a:rPr lang="en-US" dirty="0"/>
              <a:t> ha un </a:t>
            </a:r>
            <a:r>
              <a:rPr lang="en-US" dirty="0" err="1"/>
              <a:t>impatto</a:t>
            </a:r>
            <a:r>
              <a:rPr lang="en-US" dirty="0"/>
              <a:t> </a:t>
            </a:r>
            <a:r>
              <a:rPr lang="en-US" dirty="0" err="1"/>
              <a:t>sul</a:t>
            </a:r>
            <a:r>
              <a:rPr lang="en-US" dirty="0"/>
              <a:t> </a:t>
            </a:r>
            <a:r>
              <a:rPr lang="en-US" dirty="0" err="1"/>
              <a:t>sistema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6AEDD-4E67-53E0-8F98-CA19F01618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6178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La modellazione della persistenza è centrale nel funzionamento di tutto il programma.</a:t>
            </a:r>
          </a:p>
          <a:p>
            <a:endParaRPr lang="it-IT" dirty="0"/>
          </a:p>
          <a:p>
            <a:r>
              <a:rPr lang="it-IT" dirty="0"/>
              <a:t>Distribuzione – modalità di interazione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La relazione principale</a:t>
            </a:r>
          </a:p>
          <a:p>
            <a:endParaRPr lang="it-IT" dirty="0"/>
          </a:p>
          <a:p>
            <a:pPr marL="0" indent="0">
              <a:buClr>
                <a:srgbClr val="F9CB3B"/>
              </a:buClr>
              <a:buFont typeface="Arial" panose="020B0604020202020204" pitchFamily="34" charset="0"/>
              <a:buNone/>
            </a:pPr>
            <a:r>
              <a:rPr lang="it-IT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 condivisione comporta la gestione dei gruppi, che viene gestita in un’altra pagina</a:t>
            </a:r>
          </a:p>
          <a:p>
            <a:pPr marL="0" indent="0">
              <a:buClr>
                <a:srgbClr val="F9CB3B"/>
              </a:buClr>
              <a:buFont typeface="Arial" panose="020B0604020202020204" pitchFamily="34" charset="0"/>
              <a:buNone/>
            </a:pPr>
            <a:endParaRPr lang="it-IT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0" indent="0">
              <a:buClr>
                <a:srgbClr val="F9CB3B"/>
              </a:buClr>
              <a:buFont typeface="Arial" panose="020B0604020202020204" pitchFamily="34" charset="0"/>
              <a:buNone/>
            </a:pPr>
            <a:r>
              <a:rPr lang="it-IT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Principali casi d’uso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Modifica di un evento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Conferma di un evento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80A6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it-IT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Recupero dei profili associati all’evento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Recupero degli eventi di un profilo – long polling</a:t>
            </a:r>
          </a:p>
          <a:p>
            <a:endParaRPr lang="it-IT" dirty="0"/>
          </a:p>
          <a:p>
            <a:r>
              <a:rPr lang="it-IT" dirty="0"/>
              <a:t>Partizionamento</a:t>
            </a:r>
          </a:p>
          <a:p>
            <a:endParaRPr lang="it-IT" dirty="0"/>
          </a:p>
          <a:p>
            <a:r>
              <a:rPr lang="it-IT" dirty="0"/>
              <a:t>database non relazionale</a:t>
            </a:r>
          </a:p>
          <a:p>
            <a:endParaRPr lang="it-IT" dirty="0"/>
          </a:p>
          <a:p>
            <a:r>
              <a:rPr lang="it-IT" dirty="0"/>
              <a:t>Separazione dei dati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379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DB1110-7227-6D54-9477-AD93DB29F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A10CD8-0EE4-5253-DAF6-01604A93FB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7891C-A968-C37F-53B7-502526BC0D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Distribuzione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 - </a:t>
            </a:r>
            <a:r>
              <a:rPr lang="en-US" dirty="0" err="1"/>
              <a:t>Denormalizzazione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3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3B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 err="1"/>
              <a:t>Questo</a:t>
            </a:r>
            <a:r>
              <a:rPr lang="en-US" dirty="0"/>
              <a:t> </a:t>
            </a:r>
            <a:r>
              <a:rPr lang="en-US" dirty="0" err="1"/>
              <a:t>definisce</a:t>
            </a:r>
            <a:r>
              <a:rPr lang="en-US" dirty="0"/>
              <a:t> </a:t>
            </a:r>
            <a:r>
              <a:rPr lang="en-US" dirty="0" err="1"/>
              <a:t>anche</a:t>
            </a:r>
            <a:r>
              <a:rPr lang="en-US" dirty="0"/>
              <a:t> come il server </a:t>
            </a:r>
            <a:r>
              <a:rPr lang="en-US" dirty="0" err="1"/>
              <a:t>deve</a:t>
            </a:r>
            <a:r>
              <a:rPr lang="en-US" dirty="0"/>
              <a:t> </a:t>
            </a:r>
            <a:r>
              <a:rPr lang="en-US" dirty="0" err="1"/>
              <a:t>interagire</a:t>
            </a:r>
            <a:r>
              <a:rPr lang="en-US" dirty="0"/>
              <a:t> con la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dei</a:t>
            </a:r>
            <a:r>
              <a:rPr lang="en-US" dirty="0"/>
              <a:t> </a:t>
            </a:r>
            <a:r>
              <a:rPr lang="en-US" dirty="0" err="1"/>
              <a:t>dati</a:t>
            </a:r>
            <a:r>
              <a:rPr lang="en-US" dirty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CB3B"/>
              </a:buClr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04019-DDE7-4028-19A7-65CBEF2619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1320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Logica applicativa (C#/VSCode)</a:t>
            </a:r>
          </a:p>
          <a:p>
            <a:r>
              <a:rPr lang="it-IT" dirty="0"/>
              <a:t>Si evitano elaborazioni difficili</a:t>
            </a:r>
          </a:p>
          <a:p>
            <a:endParaRPr lang="it-IT" dirty="0"/>
          </a:p>
          <a:p>
            <a:r>
              <a:rPr lang="it-IT" dirty="0"/>
              <a:t>Propagata</a:t>
            </a:r>
          </a:p>
          <a:p>
            <a:endParaRPr lang="it-IT" dirty="0"/>
          </a:p>
          <a:p>
            <a:r>
              <a:rPr lang="it-IT" dirty="0"/>
              <a:t>Delegazione delle responsablità – velocità e scalabilità</a:t>
            </a:r>
          </a:p>
          <a:p>
            <a:endParaRPr lang="it-IT" dirty="0"/>
          </a:p>
          <a:p>
            <a:r>
              <a:rPr lang="it-IT" dirty="0"/>
              <a:t>Punto focale -&gt; Single responsibility</a:t>
            </a:r>
          </a:p>
          <a:p>
            <a:r>
              <a:rPr lang="it-IT" dirty="0"/>
              <a:t>Denormalizzazione</a:t>
            </a:r>
          </a:p>
          <a:p>
            <a:r>
              <a:rPr lang="it-IT" dirty="0"/>
              <a:t>Eventual consistency</a:t>
            </a:r>
          </a:p>
          <a:p>
            <a:r>
              <a:rPr lang="it-IT" dirty="0"/>
              <a:t>Change feed</a:t>
            </a:r>
          </a:p>
          <a:p>
            <a:r>
              <a:rPr lang="it-IT" dirty="0"/>
              <a:t>Idempotente</a:t>
            </a:r>
          </a:p>
          <a:p>
            <a:endParaRPr lang="it-IT" dirty="0"/>
          </a:p>
          <a:p>
            <a:endParaRPr lang="it-IT" dirty="0"/>
          </a:p>
          <a:p>
            <a:r>
              <a:rPr lang="it-IT" dirty="0"/>
              <a:t>ASB -&gt; Affidabile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65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6DF3A1-CFAD-0E0C-E848-8A35D9FE5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8A8A11-01CF-D5DA-5442-C2B989F4BA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95BBD4-91E5-BE1E-BC58-F0AD13D3A5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Federated Identity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83511A-3AC8-EFC5-8FE6-3F7AE827CF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11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02BC3-CEDC-982F-AD0B-14D350CCA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49BE85-CEEB-39C4-4246-F3B0D7F75E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A50CC-3B9B-DD9E-EEE4-5EFD5CD8E3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Framework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Browser e android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Static Web App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Chiamate</a:t>
            </a:r>
            <a:r>
              <a:rPr lang="en-US" dirty="0"/>
              <a:t> REST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Cache - Long polling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E2F7A-8D6A-5B2F-BC97-4CE22F1956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718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1B299-4E3B-3A3D-1B69-7185A4EEB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7C6E4-2EDE-6458-C828-4E85F9A6B5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14F611-82DC-FAEA-93B9-1E447E1AC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Il long pollinga avviene ogni 15 min</a:t>
            </a:r>
          </a:p>
          <a:p>
            <a:endParaRPr lang="it-IT" dirty="0"/>
          </a:p>
          <a:p>
            <a:r>
              <a:rPr lang="it-IT" dirty="0"/>
              <a:t>Service bus</a:t>
            </a:r>
          </a:p>
          <a:p>
            <a:endParaRPr lang="it-IT" dirty="0"/>
          </a:p>
          <a:p>
            <a:r>
              <a:rPr lang="it-IT" dirty="0"/>
              <a:t>Notifiche</a:t>
            </a:r>
          </a:p>
          <a:p>
            <a:r>
              <a:rPr lang="it-IT" dirty="0"/>
              <a:t>ASQ – meno affidabile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F7150-6C26-FC5F-8C8D-55534D295D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0768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0A6C4-D222-CF8A-59F0-5E195F012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1770B-D793-137F-0EC8-F07077505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71E3BE-133E-EBF3-CCE8-7B139CF690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Pesanti</a:t>
            </a:r>
          </a:p>
          <a:p>
            <a:endParaRPr lang="it-IT" dirty="0"/>
          </a:p>
          <a:p>
            <a:r>
              <a:rPr lang="it-IT" dirty="0"/>
              <a:t>Sono state salvate in una posizione</a:t>
            </a:r>
          </a:p>
          <a:p>
            <a:endParaRPr lang="it-IT" dirty="0"/>
          </a:p>
          <a:p>
            <a:r>
              <a:rPr lang="it-IT" dirty="0"/>
              <a:t>Nel momento in cui si vogliono salvare le immagini il server crea i metadati sul db e chiede al blob storage la creazione di un SAS Token</a:t>
            </a:r>
          </a:p>
          <a:p>
            <a:endParaRPr lang="it-IT" dirty="0"/>
          </a:p>
          <a:p>
            <a:r>
              <a:rPr lang="it-IT" dirty="0"/>
              <a:t>Metadata</a:t>
            </a:r>
          </a:p>
          <a:p>
            <a:r>
              <a:rPr lang="it-IT" dirty="0"/>
              <a:t>SAS Token</a:t>
            </a:r>
          </a:p>
          <a:p>
            <a:r>
              <a:rPr lang="it-IT" dirty="0"/>
              <a:t>Questo permette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A9F3D-5BD2-1B23-3AC1-1A82087F5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82156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5016A-08DF-93ED-4150-8F3D8D6FB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2206F4-EF13-2774-83DF-A7559398E8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0C44CA-9118-73B8-B892-F7C1DEBF47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KeyVault</a:t>
            </a:r>
          </a:p>
          <a:p>
            <a:r>
              <a:rPr lang="it-IT" dirty="0"/>
              <a:t>Firebase Authe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dirty="0"/>
              <a:t>Static web app</a:t>
            </a:r>
          </a:p>
          <a:p>
            <a:r>
              <a:rPr lang="it-IT" dirty="0"/>
              <a:t>Application Insights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910E8-0E43-771B-24D4-FD9609F6FC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6411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CEAED-DA8C-92CD-5466-8E462ED2C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8128AD-CDBE-6EA4-03A9-3560005E5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649985-463B-E603-79BB-00958A720C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Creazione:</a:t>
            </a:r>
          </a:p>
          <a:p>
            <a:r>
              <a:rPr lang="it-IT" dirty="0"/>
              <a:t>400 richieste / secondo</a:t>
            </a:r>
          </a:p>
          <a:p>
            <a:r>
              <a:rPr lang="it-IT" dirty="0"/>
              <a:t>Invariate in base al carico</a:t>
            </a:r>
          </a:p>
          <a:p>
            <a:r>
              <a:rPr lang="it-IT" dirty="0"/>
              <a:t>Tempo di risposta dimezzato se si considera il mero tempo di elaborazione</a:t>
            </a:r>
          </a:p>
          <a:p>
            <a:endParaRPr lang="it-IT" dirty="0"/>
          </a:p>
          <a:p>
            <a:r>
              <a:rPr lang="it-IT" dirty="0"/>
              <a:t>confermare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8F5ED-6A88-CF9D-5AF9-6676F6CDEC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255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87DC3-B174-68F4-16F9-135D68490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0FBA03-B782-8432-4620-250ADBE35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B448D-3261-44DB-3021-A731E7C32B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Service Bus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62D563-1007-4879-F875-BD7A9F4AA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5004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7A73B-378D-1616-B7E2-AF15B018D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71C434-32B6-DBFC-8B3F-4264F3173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9E33CDE-D7BC-C31B-7A73-EF00F9634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4MB</a:t>
            </a:r>
          </a:p>
          <a:p>
            <a:endParaRPr lang="it-IT" dirty="0"/>
          </a:p>
          <a:p>
            <a:r>
              <a:rPr lang="it-IT" dirty="0"/>
              <a:t>500 MB/s</a:t>
            </a:r>
          </a:p>
          <a:p>
            <a:endParaRPr lang="it-IT" dirty="0"/>
          </a:p>
          <a:p>
            <a:r>
              <a:rPr lang="it-IT" dirty="0"/>
              <a:t>Blob storage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296BD-42D8-B9BB-4EE3-B4A16ACAAE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7097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9A3003-35AF-3334-236D-0C724ACF1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C339A9-1AB7-9F1D-9B87-116B20C891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E161D7-E2D0-B73A-4934-B658D401CE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Prevedendo 5000 utenti x 200 richieste giornaliere</a:t>
            </a:r>
          </a:p>
          <a:p>
            <a:endParaRPr lang="it-IT" dirty="0"/>
          </a:p>
          <a:p>
            <a:r>
              <a:rPr lang="it-IT" dirty="0"/>
              <a:t>Costo PubSub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3D7A83-0E97-B67D-F04D-253D581F14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2269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4395C-E74E-A013-ED42-B63116918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6E8354-6DF1-196B-8A85-B66BE44DE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F884D4-D9DA-1667-9FCF-EF8649CE6B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Crediti()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EA6C2D-699D-F2B8-AA95-875F73324C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51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B62B6B-BFDC-B571-BF45-39715616A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CC691-7755-CE08-9333-FAB8CCA4F0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1938C1-6AFA-9225-240B-3393C5893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A91E5-0083-5667-F25B-CB0A15D1D7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9AAD46-EB53-4006-96F2-2D2B54701DDD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21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26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71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56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833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312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926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572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6252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73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60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8357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DBD4CE-E1C8-4391-A9A9-17B7705A54F5}" type="datetimeFigureOut">
              <a:rPr lang="en-US" smtClean="0"/>
              <a:t>7/21/2025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2996E2-6102-42A6-ADBB-2CC9E24543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5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9EDB1E60-9635-F4B9-D91A-D9D26D51B94C}"/>
              </a:ext>
            </a:extLst>
          </p:cNvPr>
          <p:cNvSpPr/>
          <p:nvPr/>
        </p:nvSpPr>
        <p:spPr>
          <a:xfrm>
            <a:off x="0" y="0"/>
            <a:ext cx="12280490" cy="6931742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9" name="Picture 8" descr="A logo with a person in the middle&#10;&#10;Description automatically generated">
            <a:extLst>
              <a:ext uri="{FF2B5EF4-FFF2-40B4-BE49-F238E27FC236}">
                <a16:creationId xmlns:a16="http://schemas.microsoft.com/office/drawing/2014/main" id="{64C1D47D-D0C9-32F9-C3B6-BF214DCB97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1288" y="1934316"/>
            <a:ext cx="3473461" cy="347346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010F4F0-6B45-DCAA-8703-A8BE3368D156}"/>
              </a:ext>
            </a:extLst>
          </p:cNvPr>
          <p:cNvSpPr txBox="1"/>
          <p:nvPr/>
        </p:nvSpPr>
        <p:spPr>
          <a:xfrm>
            <a:off x="690284" y="471010"/>
            <a:ext cx="80610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Laurea Magistrale in </a:t>
            </a:r>
            <a:r>
              <a:rPr lang="en-US" sz="24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Ingegneria</a:t>
            </a:r>
            <a:r>
              <a:rPr lang="en-US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Informatica</a:t>
            </a:r>
          </a:p>
          <a:p>
            <a:r>
              <a:rPr lang="en-US" sz="24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Luglio</a:t>
            </a:r>
            <a:r>
              <a:rPr lang="en-US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2025</a:t>
            </a:r>
          </a:p>
          <a:p>
            <a:endParaRPr lang="en-US" sz="24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US" sz="24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US" sz="2400" b="1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ctr"/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Analisi</a:t>
            </a:r>
            <a: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</a:t>
            </a:r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progettazione</a:t>
            </a:r>
            <a: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 </a:t>
            </a:r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distribuzione</a:t>
            </a:r>
            <a: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in cloud di </a:t>
            </a:r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applicativo</a:t>
            </a:r>
            <a: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per </a:t>
            </a:r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l’organizzazione</a:t>
            </a:r>
            <a: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di </a:t>
            </a:r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eventi</a:t>
            </a:r>
            <a: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condivisi</a:t>
            </a:r>
            <a:br>
              <a:rPr lang="en-US" sz="36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</a:br>
            <a:br>
              <a:rPr lang="en-US" sz="3600" dirty="0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</a:br>
            <a:endParaRPr lang="en-US" sz="3600" dirty="0">
              <a:solidFill>
                <a:schemeClr val="bg1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US" sz="2000" dirty="0" err="1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Relatore</a:t>
            </a:r>
            <a:r>
              <a:rPr lang="en-US" sz="2000" dirty="0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: Prof. Michele </a:t>
            </a:r>
            <a:r>
              <a:rPr lang="en-US" sz="2000" dirty="0" err="1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Colajanni</a:t>
            </a:r>
            <a:endParaRPr lang="en-US" sz="2000" dirty="0">
              <a:solidFill>
                <a:schemeClr val="bg1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endParaRPr lang="en-US" sz="2000" dirty="0">
              <a:solidFill>
                <a:schemeClr val="bg1"/>
              </a:solidFill>
              <a:latin typeface="Roboto Thin" panose="02000000000000000000" pitchFamily="2" charset="0"/>
              <a:ea typeface="Roboto Thin" panose="02000000000000000000" pitchFamily="2" charset="0"/>
            </a:endParaRPr>
          </a:p>
          <a:p>
            <a:r>
              <a:rPr lang="en-US" sz="2000" dirty="0">
                <a:solidFill>
                  <a:schemeClr val="bg1"/>
                </a:solidFill>
                <a:latin typeface="Roboto Thin" panose="02000000000000000000" pitchFamily="2" charset="0"/>
                <a:ea typeface="Roboto Thin" panose="02000000000000000000" pitchFamily="2" charset="0"/>
              </a:rPr>
              <a:t>A cura di Giacomo Romanini</a:t>
            </a:r>
          </a:p>
        </p:txBody>
      </p:sp>
    </p:spTree>
    <p:extLst>
      <p:ext uri="{BB962C8B-B14F-4D97-AF65-F5344CB8AC3E}">
        <p14:creationId xmlns:p14="http://schemas.microsoft.com/office/powerpoint/2010/main" val="374022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A8023DB9-9433-A1DF-F0BA-9475DA34A121}"/>
              </a:ext>
            </a:extLst>
          </p:cNvPr>
          <p:cNvSpPr/>
          <p:nvPr/>
        </p:nvSpPr>
        <p:spPr>
          <a:xfrm flipV="1">
            <a:off x="-47625" y="6585159"/>
            <a:ext cx="12630778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40F0F9-6BA5-55E9-780A-782506B19203}"/>
              </a:ext>
            </a:extLst>
          </p:cNvPr>
          <p:cNvSpPr/>
          <p:nvPr/>
        </p:nvSpPr>
        <p:spPr>
          <a:xfrm>
            <a:off x="0" y="0"/>
            <a:ext cx="12280490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6E47AA-8BB1-E33F-BB6E-9E3F7D7FD4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683" y="41756"/>
            <a:ext cx="9642938" cy="72557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WYD -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Funzionalità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FEEAB0-8AEF-DBF0-9E1E-7EDB088322C8}"/>
              </a:ext>
            </a:extLst>
          </p:cNvPr>
          <p:cNvSpPr/>
          <p:nvPr/>
        </p:nvSpPr>
        <p:spPr>
          <a:xfrm flipV="1">
            <a:off x="9182100" y="6473870"/>
            <a:ext cx="4619215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7E4F91-C98D-023F-F106-2F8DFC4F19B0}"/>
              </a:ext>
            </a:extLst>
          </p:cNvPr>
          <p:cNvSpPr/>
          <p:nvPr/>
        </p:nvSpPr>
        <p:spPr>
          <a:xfrm flipV="1">
            <a:off x="10289721" y="6316887"/>
            <a:ext cx="4143000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575CF0A-BB92-8A72-6219-480E00F6257E}"/>
              </a:ext>
            </a:extLst>
          </p:cNvPr>
          <p:cNvSpPr/>
          <p:nvPr/>
        </p:nvSpPr>
        <p:spPr>
          <a:xfrm flipV="1">
            <a:off x="11175651" y="6121801"/>
            <a:ext cx="2438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13" name="WYD">
            <a:hlinkClick r:id="" action="ppaction://media"/>
            <a:extLst>
              <a:ext uri="{FF2B5EF4-FFF2-40B4-BE49-F238E27FC236}">
                <a16:creationId xmlns:a16="http://schemas.microsoft.com/office/drawing/2014/main" id="{4E449D3B-6877-8C04-30E6-04B7A83069E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326378" y="951063"/>
            <a:ext cx="9539243" cy="5365824"/>
          </a:xfrm>
          <a:prstGeom prst="rect">
            <a:avLst/>
          </a:prstGeom>
        </p:spPr>
      </p:pic>
      <p:pic>
        <p:nvPicPr>
          <p:cNvPr id="3" name="Picture 2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08878AA5-D507-1317-628D-2CD88CB5F09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96036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1" dur="11039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CBBF61-969B-9FF5-A830-45B9EC3021BA}"/>
              </a:ext>
            </a:extLst>
          </p:cNvPr>
          <p:cNvSpPr/>
          <p:nvPr/>
        </p:nvSpPr>
        <p:spPr>
          <a:xfrm flipV="1">
            <a:off x="-660483" y="6177184"/>
            <a:ext cx="1327233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26E0B4-E485-A40C-898D-25263829AA4F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4DC7FE2-3B62-C02C-4258-78D85D3118B2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3F3967E-C7DB-8811-0CB0-A046FA6C2B8E}"/>
              </a:ext>
            </a:extLst>
          </p:cNvPr>
          <p:cNvSpPr/>
          <p:nvPr/>
        </p:nvSpPr>
        <p:spPr>
          <a:xfrm>
            <a:off x="-6517" y="-4213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E05DE8-56AF-5820-01C0-6EDB436EB1F7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3C4EB0EF-3F49-EE16-4749-885DF68D52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163" y="1042523"/>
            <a:ext cx="2738019" cy="534010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07EFFDB3-B85E-0784-4928-DB9A9FD5155E}"/>
              </a:ext>
            </a:extLst>
          </p:cNvPr>
          <p:cNvSpPr txBox="1">
            <a:spLocks/>
          </p:cNvSpPr>
          <p:nvPr/>
        </p:nvSpPr>
        <p:spPr>
          <a:xfrm>
            <a:off x="1136958" y="-43969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l"/>
            <a:r>
              <a:rPr lang="en-US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7233FCA6-1A55-1864-A3D5-9F1F862891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3606" y="1042523"/>
            <a:ext cx="2712231" cy="534010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54292B-A8AF-21C5-685B-7C429B8D1311}"/>
              </a:ext>
            </a:extLst>
          </p:cNvPr>
          <p:cNvSpPr txBox="1"/>
          <p:nvPr/>
        </p:nvSpPr>
        <p:spPr>
          <a:xfrm>
            <a:off x="3749098" y="1277744"/>
            <a:ext cx="51755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WYD è un’applicazione per la condivisione di eventi</a:t>
            </a:r>
          </a:p>
          <a:p>
            <a:endParaRPr lang="it-IT" sz="2800" dirty="0">
              <a:solidFill>
                <a:srgbClr val="0481B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it-IT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Principali funzionalità:</a:t>
            </a:r>
          </a:p>
          <a:p>
            <a:endParaRPr lang="it-IT" sz="280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Conferma dell’evento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Condivisione di un evento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Caricamento delle immagini associate</a:t>
            </a:r>
          </a:p>
        </p:txBody>
      </p:sp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6B5D67F4-5B93-ECBB-4C46-D720D31F08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316B3D00-6231-9D19-9FA4-179B2C3E7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683" y="41756"/>
            <a:ext cx="9642938" cy="72557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WYD - </a:t>
            </a:r>
            <a:r>
              <a:rPr lang="en-US" sz="40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Funzionalità</a:t>
            </a:r>
            <a:r>
              <a:rPr lang="en-US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037811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E22C75-F845-9D95-0632-05C1263A8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37F7356-C717-243E-3EA5-FE260E11AD52}"/>
              </a:ext>
            </a:extLst>
          </p:cNvPr>
          <p:cNvSpPr/>
          <p:nvPr/>
        </p:nvSpPr>
        <p:spPr>
          <a:xfrm flipV="1">
            <a:off x="-47625" y="6585159"/>
            <a:ext cx="12630778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3A6DEA-E447-B9E8-98D2-C19B8287422A}"/>
              </a:ext>
            </a:extLst>
          </p:cNvPr>
          <p:cNvSpPr/>
          <p:nvPr/>
        </p:nvSpPr>
        <p:spPr>
          <a:xfrm>
            <a:off x="0" y="0"/>
            <a:ext cx="12280490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5F2FAF-BE23-46BF-9686-FAA441861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683" y="41756"/>
            <a:ext cx="9642938" cy="725578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Analisi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del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problema</a:t>
            </a:r>
            <a:endParaRPr lang="en-US" sz="4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6DAD37-541C-0B3B-58B5-12CAD528F1C9}"/>
              </a:ext>
            </a:extLst>
          </p:cNvPr>
          <p:cNvSpPr/>
          <p:nvPr/>
        </p:nvSpPr>
        <p:spPr>
          <a:xfrm flipV="1">
            <a:off x="9182100" y="6473869"/>
            <a:ext cx="3737487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AEBFA4-B607-3BC9-0632-590324763767}"/>
              </a:ext>
            </a:extLst>
          </p:cNvPr>
          <p:cNvSpPr/>
          <p:nvPr/>
        </p:nvSpPr>
        <p:spPr>
          <a:xfrm flipV="1">
            <a:off x="10289721" y="6316886"/>
            <a:ext cx="2629866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DE469A5-889F-36BC-6F1F-DC8EBF567298}"/>
              </a:ext>
            </a:extLst>
          </p:cNvPr>
          <p:cNvSpPr/>
          <p:nvPr/>
        </p:nvSpPr>
        <p:spPr>
          <a:xfrm flipV="1">
            <a:off x="11175652" y="6121800"/>
            <a:ext cx="1743936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5" name="Picture 4" descr="A diagram of a diagram&#10;&#10;AI-generated content may be incorrect.">
            <a:extLst>
              <a:ext uri="{FF2B5EF4-FFF2-40B4-BE49-F238E27FC236}">
                <a16:creationId xmlns:a16="http://schemas.microsoft.com/office/drawing/2014/main" id="{E52F0551-F7B9-5789-A1D8-9A6FF38DC4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88" y="1132877"/>
            <a:ext cx="8498298" cy="5224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46F6509-37CC-3332-0F77-74C0B1832A42}"/>
              </a:ext>
            </a:extLst>
          </p:cNvPr>
          <p:cNvSpPr txBox="1"/>
          <p:nvPr/>
        </p:nvSpPr>
        <p:spPr>
          <a:xfrm>
            <a:off x="7775810" y="1296500"/>
            <a:ext cx="46192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Principali Casi D’uso:</a:t>
            </a:r>
          </a:p>
          <a:p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Modifica di un evento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Conferma di un evento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Recupero degli eventi di un profilo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Recupero dei profili associati all’evento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" name="Picture 3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FD4F077E-AAF1-D111-5FF6-C599467E6B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01724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9C563-2A75-FA0F-2733-61283C930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4C92EDC-163A-78FA-4D16-1AD6CCF410E1}"/>
              </a:ext>
            </a:extLst>
          </p:cNvPr>
          <p:cNvSpPr/>
          <p:nvPr/>
        </p:nvSpPr>
        <p:spPr>
          <a:xfrm flipV="1">
            <a:off x="-660484" y="6177183"/>
            <a:ext cx="1327233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9D6A42E-0CAD-FF58-12D6-22BB9119A10B}"/>
              </a:ext>
            </a:extLst>
          </p:cNvPr>
          <p:cNvSpPr/>
          <p:nvPr/>
        </p:nvSpPr>
        <p:spPr>
          <a:xfrm flipV="1">
            <a:off x="-660484" y="5893198"/>
            <a:ext cx="2194008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1A9792-41AF-6958-5686-6A36EC780CE8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7004500-444C-34A3-3530-5AA86639DDF2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14F673C-F4F1-9E0A-2730-61F253021106}"/>
              </a:ext>
            </a:extLst>
          </p:cNvPr>
          <p:cNvSpPr/>
          <p:nvPr/>
        </p:nvSpPr>
        <p:spPr>
          <a:xfrm>
            <a:off x="3725" y="3727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5159964-7F5F-1433-4CB8-78A7720BF384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7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Persistenza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-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Analisi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4A0760-984F-9EFF-761B-F600B50835E9}"/>
              </a:ext>
            </a:extLst>
          </p:cNvPr>
          <p:cNvSpPr txBox="1"/>
          <p:nvPr/>
        </p:nvSpPr>
        <p:spPr>
          <a:xfrm>
            <a:off x="753650" y="2521059"/>
            <a:ext cx="47327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F9CB3B"/>
              </a:buClr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Analisi: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Dominio e casi d’uso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Gestione delle transazioni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Distribuzione dei dati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E10AE2-53DD-684B-42BB-688420E969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7068" y="1012688"/>
            <a:ext cx="5267281" cy="5378932"/>
          </a:xfrm>
          <a:prstGeom prst="rect">
            <a:avLst/>
          </a:prstGeom>
        </p:spPr>
      </p:pic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3D5D6E52-F238-F546-CBA6-047422112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73259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6C57F-3A60-457A-5A8E-2052A989D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D9FB673-F22E-57E1-BB30-6938EF6AB13E}"/>
              </a:ext>
            </a:extLst>
          </p:cNvPr>
          <p:cNvSpPr/>
          <p:nvPr/>
        </p:nvSpPr>
        <p:spPr>
          <a:xfrm flipV="1">
            <a:off x="-47625" y="6585159"/>
            <a:ext cx="12630778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7285A7-3E2E-C532-DC55-29C076E9BEED}"/>
              </a:ext>
            </a:extLst>
          </p:cNvPr>
          <p:cNvSpPr/>
          <p:nvPr/>
        </p:nvSpPr>
        <p:spPr>
          <a:xfrm>
            <a:off x="0" y="0"/>
            <a:ext cx="12280490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64AC2A-2601-6FD3-623A-AE220D8D80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683" y="41756"/>
            <a:ext cx="9642938" cy="725578"/>
          </a:xfrm>
        </p:spPr>
        <p:txBody>
          <a:bodyPr>
            <a:normAutofit/>
          </a:bodyPr>
          <a:lstStyle/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Persistenza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-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Realizzazione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3978053-157F-E95B-642C-1CF2937767C0}"/>
              </a:ext>
            </a:extLst>
          </p:cNvPr>
          <p:cNvSpPr/>
          <p:nvPr/>
        </p:nvSpPr>
        <p:spPr>
          <a:xfrm flipV="1">
            <a:off x="9182100" y="6473870"/>
            <a:ext cx="4619215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8A286FD-8B8A-2609-8281-7489EF75DD55}"/>
              </a:ext>
            </a:extLst>
          </p:cNvPr>
          <p:cNvSpPr/>
          <p:nvPr/>
        </p:nvSpPr>
        <p:spPr>
          <a:xfrm flipV="1">
            <a:off x="10289721" y="6316887"/>
            <a:ext cx="4143000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34BEBC9-26F4-9BE8-6017-B602C2723261}"/>
              </a:ext>
            </a:extLst>
          </p:cNvPr>
          <p:cNvSpPr/>
          <p:nvPr/>
        </p:nvSpPr>
        <p:spPr>
          <a:xfrm flipV="1">
            <a:off x="11175651" y="6121801"/>
            <a:ext cx="2438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9" name="Picture 8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EA8CE74D-3F27-44F6-87D7-84120F5D74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13" y="128498"/>
            <a:ext cx="642776" cy="642776"/>
          </a:xfrm>
          <a:prstGeom prst="rect">
            <a:avLst/>
          </a:prstGeom>
        </p:spPr>
      </p:pic>
      <p:pic>
        <p:nvPicPr>
          <p:cNvPr id="4" name="Picture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C0032DF-961B-5E17-3E2D-76556F63D2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319"/>
          <a:stretch>
            <a:fillRect/>
          </a:stretch>
        </p:blipFill>
        <p:spPr>
          <a:xfrm>
            <a:off x="1004094" y="978061"/>
            <a:ext cx="5082797" cy="5607098"/>
          </a:xfrm>
          <a:prstGeom prst="rect">
            <a:avLst/>
          </a:prstGeom>
        </p:spPr>
      </p:pic>
      <p:pic>
        <p:nvPicPr>
          <p:cNvPr id="6" name="Picture 5" descr="A blue planet with white clouds and stars&#10;&#10;AI-generated content may be incorrect.">
            <a:extLst>
              <a:ext uri="{FF2B5EF4-FFF2-40B4-BE49-F238E27FC236}">
                <a16:creationId xmlns:a16="http://schemas.microsoft.com/office/drawing/2014/main" id="{33714FF6-B0F6-8F62-83AD-8754FBA03F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5925" y="1411182"/>
            <a:ext cx="2421809" cy="240566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8725154-20DD-B4B1-BD51-805B563554D9}"/>
              </a:ext>
            </a:extLst>
          </p:cNvPr>
          <p:cNvSpPr txBox="1"/>
          <p:nvPr/>
        </p:nvSpPr>
        <p:spPr>
          <a:xfrm>
            <a:off x="7294880" y="4104495"/>
            <a:ext cx="452274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Cosmos Database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Documentale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Scalabile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Distribuito</a:t>
            </a:r>
          </a:p>
        </p:txBody>
      </p:sp>
    </p:spTree>
    <p:extLst>
      <p:ext uri="{BB962C8B-B14F-4D97-AF65-F5344CB8AC3E}">
        <p14:creationId xmlns:p14="http://schemas.microsoft.com/office/powerpoint/2010/main" val="20084082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BCD47-1CC3-231F-FEE1-4E34FDF7F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626956-BB88-E959-36EE-D234931FA8B4}"/>
              </a:ext>
            </a:extLst>
          </p:cNvPr>
          <p:cNvSpPr/>
          <p:nvPr/>
        </p:nvSpPr>
        <p:spPr>
          <a:xfrm flipV="1">
            <a:off x="-660483" y="6180117"/>
            <a:ext cx="127961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E34B8BE-BC04-0178-232D-9823BAAE2B8D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9559FF-0039-15C2-DB46-B95309ADA2E1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F8C3C3-9A63-8860-8E85-71DE1A4ECEC4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DEBD78D-E5D8-E59C-2041-23F556FF98B4}"/>
              </a:ext>
            </a:extLst>
          </p:cNvPr>
          <p:cNvSpPr/>
          <p:nvPr/>
        </p:nvSpPr>
        <p:spPr>
          <a:xfrm>
            <a:off x="0" y="-13716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B004F77B-0E66-9AD4-A916-3F3A6FC482AF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Server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Principale</a:t>
            </a:r>
            <a:r>
              <a:rPr lang="en-US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pic>
        <p:nvPicPr>
          <p:cNvPr id="10" name="Picture 9" descr="A yellow lightning bolt with blue lines&#10;&#10;AI-generated content may be incorrect.">
            <a:extLst>
              <a:ext uri="{FF2B5EF4-FFF2-40B4-BE49-F238E27FC236}">
                <a16:creationId xmlns:a16="http://schemas.microsoft.com/office/drawing/2014/main" id="{B7B2CA34-9DB6-8E57-E1CC-77079D468E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97" y="2035094"/>
            <a:ext cx="1657121" cy="16571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C36B423-1823-7C26-F286-9645EAF6AF05}"/>
              </a:ext>
            </a:extLst>
          </p:cNvPr>
          <p:cNvSpPr txBox="1"/>
          <p:nvPr/>
        </p:nvSpPr>
        <p:spPr>
          <a:xfrm>
            <a:off x="210963" y="3775525"/>
            <a:ext cx="27792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Functions</a:t>
            </a:r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FaaS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Serverless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Autonomo</a:t>
            </a:r>
          </a:p>
        </p:txBody>
      </p:sp>
      <p:pic>
        <p:nvPicPr>
          <p:cNvPr id="12" name="Picture 11" descr="A yellow lightning bolt with blue lines&#10;&#10;AI-generated content may be incorrect.">
            <a:extLst>
              <a:ext uri="{FF2B5EF4-FFF2-40B4-BE49-F238E27FC236}">
                <a16:creationId xmlns:a16="http://schemas.microsoft.com/office/drawing/2014/main" id="{7FD70D83-2108-61EA-5278-C92DF9F54E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3148" y="1453932"/>
            <a:ext cx="1330324" cy="1330324"/>
          </a:xfrm>
          <a:prstGeom prst="rect">
            <a:avLst/>
          </a:prstGeom>
        </p:spPr>
      </p:pic>
      <p:pic>
        <p:nvPicPr>
          <p:cNvPr id="13" name="Picture 12" descr="A blue planet with white clouds and stars&#10;&#10;AI-generated content may be incorrect.">
            <a:extLst>
              <a:ext uri="{FF2B5EF4-FFF2-40B4-BE49-F238E27FC236}">
                <a16:creationId xmlns:a16="http://schemas.microsoft.com/office/drawing/2014/main" id="{569311B2-A60E-3C2A-A6A2-940F64520B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279" y="1385422"/>
            <a:ext cx="1339252" cy="1330324"/>
          </a:xfrm>
          <a:prstGeom prst="rect">
            <a:avLst/>
          </a:prstGeom>
        </p:spPr>
      </p:pic>
      <p:pic>
        <p:nvPicPr>
          <p:cNvPr id="14" name="Picture 13" descr="A yellow lightning bolt with blue lines&#10;&#10;AI-generated content may be incorrect.">
            <a:extLst>
              <a:ext uri="{FF2B5EF4-FFF2-40B4-BE49-F238E27FC236}">
                <a16:creationId xmlns:a16="http://schemas.microsoft.com/office/drawing/2014/main" id="{80B3DB8A-CD15-4A59-7A9A-2F70902063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098" y="4624389"/>
            <a:ext cx="1330325" cy="1330325"/>
          </a:xfrm>
          <a:prstGeom prst="rect">
            <a:avLst/>
          </a:prstGeom>
        </p:spPr>
      </p:pic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C70AAADC-8D2D-4F34-27D6-9CA153CCC0CF}"/>
              </a:ext>
            </a:extLst>
          </p:cNvPr>
          <p:cNvCxnSpPr>
            <a:cxnSpLocks/>
          </p:cNvCxnSpPr>
          <p:nvPr/>
        </p:nvCxnSpPr>
        <p:spPr>
          <a:xfrm flipV="1">
            <a:off x="7688480" y="2849628"/>
            <a:ext cx="0" cy="1575289"/>
          </a:xfrm>
          <a:prstGeom prst="straightConnector1">
            <a:avLst/>
          </a:prstGeom>
          <a:ln w="85725">
            <a:solidFill>
              <a:srgbClr val="F9C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E79F2A2-4803-F91C-6DB3-6D5B4832AE80}"/>
              </a:ext>
            </a:extLst>
          </p:cNvPr>
          <p:cNvCxnSpPr>
            <a:cxnSpLocks/>
          </p:cNvCxnSpPr>
          <p:nvPr/>
        </p:nvCxnSpPr>
        <p:spPr>
          <a:xfrm>
            <a:off x="4814029" y="5322673"/>
            <a:ext cx="1795497" cy="1596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C9CB64-0BD9-1F9B-1202-69FE8FF55D5E}"/>
              </a:ext>
            </a:extLst>
          </p:cNvPr>
          <p:cNvCxnSpPr>
            <a:cxnSpLocks/>
          </p:cNvCxnSpPr>
          <p:nvPr/>
        </p:nvCxnSpPr>
        <p:spPr>
          <a:xfrm>
            <a:off x="3770665" y="2771291"/>
            <a:ext cx="20909" cy="1711221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A blue square with black background&#10;&#10;AI-generated content may be incorrect.">
            <a:extLst>
              <a:ext uri="{FF2B5EF4-FFF2-40B4-BE49-F238E27FC236}">
                <a16:creationId xmlns:a16="http://schemas.microsoft.com/office/drawing/2014/main" id="{9D80ED37-C5D2-2ABB-DA28-1C837F552A5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4682" y="4808502"/>
            <a:ext cx="1098880" cy="972324"/>
          </a:xfrm>
          <a:prstGeom prst="rect">
            <a:avLst/>
          </a:prstGeom>
        </p:spPr>
      </p:pic>
      <p:pic>
        <p:nvPicPr>
          <p:cNvPr id="58" name="Picture 57" descr="A blue square with black background&#10;&#10;AI-generated content may be incorrect.">
            <a:extLst>
              <a:ext uri="{FF2B5EF4-FFF2-40B4-BE49-F238E27FC236}">
                <a16:creationId xmlns:a16="http://schemas.microsoft.com/office/drawing/2014/main" id="{41E5F054-8BA9-8A59-FDAA-C7254DFDAD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9517" y="2031014"/>
            <a:ext cx="1635317" cy="1446980"/>
          </a:xfrm>
          <a:prstGeom prst="rect">
            <a:avLst/>
          </a:prstGeom>
        </p:spPr>
      </p:pic>
      <p:sp>
        <p:nvSpPr>
          <p:cNvPr id="59" name="TextBox 58">
            <a:extLst>
              <a:ext uri="{FF2B5EF4-FFF2-40B4-BE49-F238E27FC236}">
                <a16:creationId xmlns:a16="http://schemas.microsoft.com/office/drawing/2014/main" id="{3DD8BE23-C32D-2718-27C3-44497786BE68}"/>
              </a:ext>
            </a:extLst>
          </p:cNvPr>
          <p:cNvSpPr txBox="1"/>
          <p:nvPr/>
        </p:nvSpPr>
        <p:spPr>
          <a:xfrm>
            <a:off x="8577472" y="3615535"/>
            <a:ext cx="37282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Service Bus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 di messaggi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Sessioni e Topics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Dead-Letter Queue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77000A0-B0BB-7CA9-0FAA-9D19049CF4A0}"/>
              </a:ext>
            </a:extLst>
          </p:cNvPr>
          <p:cNvCxnSpPr>
            <a:cxnSpLocks/>
          </p:cNvCxnSpPr>
          <p:nvPr/>
        </p:nvCxnSpPr>
        <p:spPr>
          <a:xfrm>
            <a:off x="4800689" y="2282492"/>
            <a:ext cx="1795497" cy="1596"/>
          </a:xfrm>
          <a:prstGeom prst="straightConnector1">
            <a:avLst/>
          </a:prstGeom>
          <a:ln w="85725">
            <a:solidFill>
              <a:srgbClr val="F80A6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0CBCEA9E-01EB-C466-1F50-338F8293C3B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5726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A249601-D6FC-8409-1CF5-746F11FB4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EC3F33-4E74-B3F1-1E4B-260246BBEB35}"/>
              </a:ext>
            </a:extLst>
          </p:cNvPr>
          <p:cNvSpPr/>
          <p:nvPr/>
        </p:nvSpPr>
        <p:spPr>
          <a:xfrm flipV="1">
            <a:off x="-660483" y="6180117"/>
            <a:ext cx="127961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269198-4FF0-1541-D6D3-045F93BC6983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1B8BBB-425A-B41A-219F-F12AAD66C5CF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B7BAD6-13E0-72D7-FDE6-CA8BE4D56BF8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E0B34D2-6818-EDFC-547E-8B8018EA7E07}"/>
              </a:ext>
            </a:extLst>
          </p:cNvPr>
          <p:cNvSpPr/>
          <p:nvPr/>
        </p:nvSpPr>
        <p:spPr>
          <a:xfrm>
            <a:off x="-20674" y="-10708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1E572500-9BE8-1B8C-4BA5-8570D83C0FE9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Sicurezza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: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Autenticazione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Isolamento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F1EBEB-CEA4-B20B-C851-93AEEA13C933}"/>
              </a:ext>
            </a:extLst>
          </p:cNvPr>
          <p:cNvSpPr txBox="1"/>
          <p:nvPr/>
        </p:nvSpPr>
        <p:spPr>
          <a:xfrm>
            <a:off x="4363044" y="3399612"/>
            <a:ext cx="31567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Google Firebase Authentication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Custom login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Supporto alla FI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Facilmente integrabile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90C51CA-EE4A-E911-00CC-B538295C31D5}"/>
              </a:ext>
            </a:extLst>
          </p:cNvPr>
          <p:cNvSpPr txBox="1"/>
          <p:nvPr/>
        </p:nvSpPr>
        <p:spPr>
          <a:xfrm>
            <a:off x="7865577" y="3377726"/>
            <a:ext cx="373611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Virtual Network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Isolato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Controllabile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" name="Picture 2" descr="A yellow folded paper with a couple of people icon&#10;&#10;AI-generated content may be incorrect.">
            <a:extLst>
              <a:ext uri="{FF2B5EF4-FFF2-40B4-BE49-F238E27FC236}">
                <a16:creationId xmlns:a16="http://schemas.microsoft.com/office/drawing/2014/main" id="{A3748DCA-CE18-1BC8-A41A-3CCB2EA8F7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914" y="1327040"/>
            <a:ext cx="1941446" cy="1941446"/>
          </a:xfrm>
          <a:prstGeom prst="rect">
            <a:avLst/>
          </a:prstGeom>
        </p:spPr>
      </p:pic>
      <p:pic>
        <p:nvPicPr>
          <p:cNvPr id="9" name="Picture 8" descr="A group of blue and green circles&#10;&#10;AI-generated content may be incorrect.">
            <a:extLst>
              <a:ext uri="{FF2B5EF4-FFF2-40B4-BE49-F238E27FC236}">
                <a16:creationId xmlns:a16="http://schemas.microsoft.com/office/drawing/2014/main" id="{8B0186F1-559C-4EC1-54E8-59112132D8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0392" y="1424504"/>
            <a:ext cx="2922104" cy="1534104"/>
          </a:xfrm>
          <a:prstGeom prst="rect">
            <a:avLst/>
          </a:prstGeom>
        </p:spPr>
      </p:pic>
      <p:pic>
        <p:nvPicPr>
          <p:cNvPr id="4" name="Picture 3" descr="A yellow key in a blue circle&#10;&#10;AI-generated content may be incorrect.">
            <a:extLst>
              <a:ext uri="{FF2B5EF4-FFF2-40B4-BE49-F238E27FC236}">
                <a16:creationId xmlns:a16="http://schemas.microsoft.com/office/drawing/2014/main" id="{60FB5B82-602A-B132-39B9-20942945D2C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30" y="1452599"/>
            <a:ext cx="1811262" cy="18055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691C5DC-542A-08E9-10E2-6033E64D768B}"/>
              </a:ext>
            </a:extLst>
          </p:cNvPr>
          <p:cNvSpPr txBox="1"/>
          <p:nvPr/>
        </p:nvSpPr>
        <p:spPr>
          <a:xfrm>
            <a:off x="1128867" y="3423988"/>
            <a:ext cx="288838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Key Vault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Sicuro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Indipendente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Distribuito</a:t>
            </a:r>
          </a:p>
        </p:txBody>
      </p:sp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E6B2FD3C-1C4A-9FA3-0492-8A6233B1CF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32039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FA0D4E1-DBBD-2847-47D5-743F7AC4A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33579B1-2B9F-A4B7-0B0A-71E35C586192}"/>
              </a:ext>
            </a:extLst>
          </p:cNvPr>
          <p:cNvSpPr/>
          <p:nvPr/>
        </p:nvSpPr>
        <p:spPr>
          <a:xfrm flipV="1">
            <a:off x="-47625" y="6585159"/>
            <a:ext cx="12630778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B58A23-7337-B1A9-2B23-A5BDFB42BCB7}"/>
              </a:ext>
            </a:extLst>
          </p:cNvPr>
          <p:cNvSpPr/>
          <p:nvPr/>
        </p:nvSpPr>
        <p:spPr>
          <a:xfrm>
            <a:off x="0" y="0"/>
            <a:ext cx="12280490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ECE697-B06E-2C52-C77F-D17A7EE5E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22683" y="41756"/>
            <a:ext cx="9642938" cy="725578"/>
          </a:xfrm>
        </p:spPr>
        <p:txBody>
          <a:bodyPr>
            <a:normAutofit/>
          </a:bodyPr>
          <a:lstStyle/>
          <a:p>
            <a:pPr algn="l"/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Client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1B7D6E-43B6-8492-025C-2F98E1BA266E}"/>
              </a:ext>
            </a:extLst>
          </p:cNvPr>
          <p:cNvSpPr/>
          <p:nvPr/>
        </p:nvSpPr>
        <p:spPr>
          <a:xfrm flipV="1">
            <a:off x="9182101" y="6473869"/>
            <a:ext cx="3670300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B41AC20-DC8C-F2E3-1758-38C34BA01BA8}"/>
              </a:ext>
            </a:extLst>
          </p:cNvPr>
          <p:cNvSpPr/>
          <p:nvPr/>
        </p:nvSpPr>
        <p:spPr>
          <a:xfrm flipV="1">
            <a:off x="10289721" y="6316886"/>
            <a:ext cx="256267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FB88A75-0AD7-391B-EB0B-599C7DF9DBA5}"/>
              </a:ext>
            </a:extLst>
          </p:cNvPr>
          <p:cNvSpPr/>
          <p:nvPr/>
        </p:nvSpPr>
        <p:spPr>
          <a:xfrm flipV="1">
            <a:off x="11175651" y="6121800"/>
            <a:ext cx="1676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41327A-6EFB-02F6-51B2-9854213AE132}"/>
              </a:ext>
            </a:extLst>
          </p:cNvPr>
          <p:cNvSpPr txBox="1"/>
          <p:nvPr/>
        </p:nvSpPr>
        <p:spPr>
          <a:xfrm>
            <a:off x="665593" y="4022501"/>
            <a:ext cx="332764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Flutter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Multipiattaforma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Veloce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Affidabile</a:t>
            </a:r>
          </a:p>
        </p:txBody>
      </p:sp>
      <p:pic>
        <p:nvPicPr>
          <p:cNvPr id="8" name="Picture 7" descr="A blue and black logo&#10;&#10;AI-generated content may be incorrect.">
            <a:extLst>
              <a:ext uri="{FF2B5EF4-FFF2-40B4-BE49-F238E27FC236}">
                <a16:creationId xmlns:a16="http://schemas.microsoft.com/office/drawing/2014/main" id="{49D1A6DF-449F-BEBB-3CC8-599436DC6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58" y="1750738"/>
            <a:ext cx="1848914" cy="1848914"/>
          </a:xfrm>
          <a:prstGeom prst="rect">
            <a:avLst/>
          </a:prstGeom>
        </p:spPr>
      </p:pic>
      <p:pic>
        <p:nvPicPr>
          <p:cNvPr id="21" name="Picture 20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1BF0DC89-D730-BB80-B420-A46E7D94FC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5367" y="1237740"/>
            <a:ext cx="5973906" cy="2795868"/>
          </a:xfrm>
          <a:prstGeom prst="rect">
            <a:avLst/>
          </a:prstGeom>
        </p:spPr>
      </p:pic>
      <p:pic>
        <p:nvPicPr>
          <p:cNvPr id="22" name="Picture 21" descr="A yellow lightning bolt with blue lines&#10;&#10;AI-generated content may be incorrect.">
            <a:extLst>
              <a:ext uri="{FF2B5EF4-FFF2-40B4-BE49-F238E27FC236}">
                <a16:creationId xmlns:a16="http://schemas.microsoft.com/office/drawing/2014/main" id="{4586F0E6-49E1-ADA7-9366-5D94A04278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0822" y="4649765"/>
            <a:ext cx="1247191" cy="1247191"/>
          </a:xfrm>
          <a:prstGeom prst="rect">
            <a:avLst/>
          </a:prstGeom>
        </p:spPr>
      </p:pic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F3D5A979-C68E-3B88-6BE0-5856240513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4089" y="4519015"/>
            <a:ext cx="1302963" cy="1302963"/>
          </a:xfrm>
          <a:prstGeom prst="rect">
            <a:avLst/>
          </a:prstGeom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BFB98FD-B3AF-89F4-DDB6-1250D5699F2D}"/>
              </a:ext>
            </a:extLst>
          </p:cNvPr>
          <p:cNvCxnSpPr>
            <a:cxnSpLocks/>
          </p:cNvCxnSpPr>
          <p:nvPr/>
        </p:nvCxnSpPr>
        <p:spPr>
          <a:xfrm>
            <a:off x="6996841" y="5229157"/>
            <a:ext cx="1795497" cy="1596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15C5B75E-EC0B-37CF-FD6D-92CB89FB490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2570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90B46-9CBE-356E-FC79-C6AE9E357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8ACAAB-826E-46BD-CAAF-DAA0BC735847}"/>
              </a:ext>
            </a:extLst>
          </p:cNvPr>
          <p:cNvSpPr/>
          <p:nvPr/>
        </p:nvSpPr>
        <p:spPr>
          <a:xfrm flipV="1">
            <a:off x="-660483" y="6180117"/>
            <a:ext cx="127961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2FCF73-DC20-992F-CB25-9EBFAF10A94C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14B5EB-C3E3-E85C-1239-A6082C82EE8B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4DCE87-8354-D4D7-653C-DF1C9D81C370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803EF0-5F11-D6D3-1136-4FDFC23EC1F7}"/>
              </a:ext>
            </a:extLst>
          </p:cNvPr>
          <p:cNvSpPr/>
          <p:nvPr/>
        </p:nvSpPr>
        <p:spPr>
          <a:xfrm>
            <a:off x="0" y="-10447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3280830F-1ECE-1B74-4E6F-4E9253EB486B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Aggiornamenti in tempo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reale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2" name="Picture 1" descr="A blue square with white dots and white lines&#10;&#10;AI-generated content may be incorrect.">
            <a:extLst>
              <a:ext uri="{FF2B5EF4-FFF2-40B4-BE49-F238E27FC236}">
                <a16:creationId xmlns:a16="http://schemas.microsoft.com/office/drawing/2014/main" id="{789B9846-6301-6EFE-9708-9FD00CE84E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3962" y="1922614"/>
            <a:ext cx="1094055" cy="10940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41AFA1D-956D-67D1-D229-CEC800C9B2E3}"/>
              </a:ext>
            </a:extLst>
          </p:cNvPr>
          <p:cNvSpPr txBox="1"/>
          <p:nvPr/>
        </p:nvSpPr>
        <p:spPr>
          <a:xfrm>
            <a:off x="8700861" y="3331075"/>
            <a:ext cx="33276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Web PubSub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Comunicazioni in tempo reale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Canali tramite Web Socket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2" name="Picture 11" descr="A purple rectangular object with grey border&#10;&#10;AI-generated content may be incorrect.">
            <a:extLst>
              <a:ext uri="{FF2B5EF4-FFF2-40B4-BE49-F238E27FC236}">
                <a16:creationId xmlns:a16="http://schemas.microsoft.com/office/drawing/2014/main" id="{65DC75C3-E4BE-32AC-AEA7-7AE5EA7D44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440" y="1571556"/>
            <a:ext cx="1524815" cy="13052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958291B-3317-B83F-E386-6209F7DFC1A1}"/>
              </a:ext>
            </a:extLst>
          </p:cNvPr>
          <p:cNvSpPr txBox="1"/>
          <p:nvPr/>
        </p:nvSpPr>
        <p:spPr>
          <a:xfrm>
            <a:off x="204001" y="3351294"/>
            <a:ext cx="35868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Storage Queue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 di messaggi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Veloce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Economico</a:t>
            </a:r>
          </a:p>
        </p:txBody>
      </p:sp>
      <p:pic>
        <p:nvPicPr>
          <p:cNvPr id="19" name="Picture 18" descr="A purple rectangular object with grey border&#10;&#10;AI-generated content may be incorrect.">
            <a:extLst>
              <a:ext uri="{FF2B5EF4-FFF2-40B4-BE49-F238E27FC236}">
                <a16:creationId xmlns:a16="http://schemas.microsoft.com/office/drawing/2014/main" id="{23259F04-BA9C-D510-69F1-ED57CBB4A5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7614" y="1523370"/>
            <a:ext cx="1204180" cy="1030753"/>
          </a:xfrm>
          <a:prstGeom prst="rect">
            <a:avLst/>
          </a:prstGeom>
        </p:spPr>
      </p:pic>
      <p:pic>
        <p:nvPicPr>
          <p:cNvPr id="21" name="Picture 20" descr="A blue square with white dots and white lines&#10;&#10;AI-generated content may be incorrect.">
            <a:extLst>
              <a:ext uri="{FF2B5EF4-FFF2-40B4-BE49-F238E27FC236}">
                <a16:creationId xmlns:a16="http://schemas.microsoft.com/office/drawing/2014/main" id="{9C450E30-1AA5-351D-950D-6DE78FDF3F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4282" y="4656957"/>
            <a:ext cx="1204180" cy="1204180"/>
          </a:xfrm>
          <a:prstGeom prst="rect">
            <a:avLst/>
          </a:prstGeom>
        </p:spPr>
      </p:pic>
      <p:pic>
        <p:nvPicPr>
          <p:cNvPr id="23" name="Picture 2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D7632C6B-250F-B939-0429-92A65BCFC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0294" y="4522187"/>
            <a:ext cx="1347765" cy="1347765"/>
          </a:xfrm>
          <a:prstGeom prst="rect">
            <a:avLst/>
          </a:prstGeom>
        </p:spPr>
      </p:pic>
      <p:pic>
        <p:nvPicPr>
          <p:cNvPr id="33" name="Picture 32" descr="A blue planet with white clouds and stars&#10;&#10;AI-generated content may be incorrect.">
            <a:extLst>
              <a:ext uri="{FF2B5EF4-FFF2-40B4-BE49-F238E27FC236}">
                <a16:creationId xmlns:a16="http://schemas.microsoft.com/office/drawing/2014/main" id="{2A69D1A3-2BD5-075A-80BC-928CFEFDCB9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645" y="1216143"/>
            <a:ext cx="618578" cy="614454"/>
          </a:xfrm>
          <a:prstGeom prst="rect">
            <a:avLst/>
          </a:prstGeom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C3228A0-0B37-4BB0-F01F-522D4A8222FD}"/>
              </a:ext>
            </a:extLst>
          </p:cNvPr>
          <p:cNvCxnSpPr>
            <a:cxnSpLocks/>
          </p:cNvCxnSpPr>
          <p:nvPr/>
        </p:nvCxnSpPr>
        <p:spPr>
          <a:xfrm>
            <a:off x="5208059" y="2088861"/>
            <a:ext cx="1795497" cy="1596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21B9B6F-2701-40B3-C9F0-184BFEF4D75B}"/>
              </a:ext>
            </a:extLst>
          </p:cNvPr>
          <p:cNvCxnSpPr>
            <a:cxnSpLocks/>
          </p:cNvCxnSpPr>
          <p:nvPr/>
        </p:nvCxnSpPr>
        <p:spPr>
          <a:xfrm>
            <a:off x="7765463" y="2841075"/>
            <a:ext cx="20909" cy="1711221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Picture 13" descr="A yellow lightning bolt with blue lines&#10;&#10;AI-generated content may be incorrect.">
            <a:extLst>
              <a:ext uri="{FF2B5EF4-FFF2-40B4-BE49-F238E27FC236}">
                <a16:creationId xmlns:a16="http://schemas.microsoft.com/office/drawing/2014/main" id="{6198B1B7-E4F7-9B21-6A3F-B30AA414129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9821" y="1435158"/>
            <a:ext cx="1312194" cy="1312194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E315B519-0C04-CE86-A1E9-5713D2637DA9}"/>
              </a:ext>
            </a:extLst>
          </p:cNvPr>
          <p:cNvCxnSpPr>
            <a:cxnSpLocks/>
          </p:cNvCxnSpPr>
          <p:nvPr/>
        </p:nvCxnSpPr>
        <p:spPr>
          <a:xfrm flipH="1">
            <a:off x="5247800" y="5254645"/>
            <a:ext cx="1795497" cy="0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60E80462-3451-38A0-5A8B-527B81EA8B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403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A69B26-0816-520A-3C69-00B580ECB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048A88F-0A88-398A-9F30-F360A2D10681}"/>
              </a:ext>
            </a:extLst>
          </p:cNvPr>
          <p:cNvSpPr/>
          <p:nvPr/>
        </p:nvSpPr>
        <p:spPr>
          <a:xfrm flipV="1">
            <a:off x="-660400" y="663927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D33B2A-C07B-8509-EA4B-FD45923F620D}"/>
              </a:ext>
            </a:extLst>
          </p:cNvPr>
          <p:cNvSpPr/>
          <p:nvPr/>
        </p:nvSpPr>
        <p:spPr>
          <a:xfrm>
            <a:off x="-6517" y="-8344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D5FBBF0-2B19-DAA7-26C1-C3E6C5DC4CBA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231192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Immagini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7" name="Picture 16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05DA6EA3-53E4-861C-AF53-9B2BA1B991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92DA379-ABC7-88FA-13DB-F41A7F07E913}"/>
              </a:ext>
            </a:extLst>
          </p:cNvPr>
          <p:cNvSpPr txBox="1"/>
          <p:nvPr/>
        </p:nvSpPr>
        <p:spPr>
          <a:xfrm>
            <a:off x="1211773" y="3768613"/>
            <a:ext cx="32225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Azure Blob Storage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Object storage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REST Api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SAS Token</a:t>
            </a:r>
          </a:p>
        </p:txBody>
      </p:sp>
      <p:pic>
        <p:nvPicPr>
          <p:cNvPr id="20" name="Picture 19" descr="A blue hexagon with white paper with blue numbers on it&#10;&#10;AI-generated content may be incorrect.">
            <a:extLst>
              <a:ext uri="{FF2B5EF4-FFF2-40B4-BE49-F238E27FC236}">
                <a16:creationId xmlns:a16="http://schemas.microsoft.com/office/drawing/2014/main" id="{74F14CEE-2FE0-9359-66B8-9517ED340B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389" y="1379574"/>
            <a:ext cx="2430288" cy="2430288"/>
          </a:xfrm>
          <a:prstGeom prst="rect">
            <a:avLst/>
          </a:prstGeom>
        </p:spPr>
      </p:pic>
      <p:pic>
        <p:nvPicPr>
          <p:cNvPr id="21" name="Picture 20" descr="A yellow lightning bolt with blue lines&#10;&#10;AI-generated content may be incorrect.">
            <a:extLst>
              <a:ext uri="{FF2B5EF4-FFF2-40B4-BE49-F238E27FC236}">
                <a16:creationId xmlns:a16="http://schemas.microsoft.com/office/drawing/2014/main" id="{0A3C1359-8A0C-7A06-2226-9944517894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89" y="1458500"/>
            <a:ext cx="1312194" cy="1312194"/>
          </a:xfrm>
          <a:prstGeom prst="rect">
            <a:avLst/>
          </a:prstGeom>
        </p:spPr>
      </p:pic>
      <p:pic>
        <p:nvPicPr>
          <p:cNvPr id="23" name="Picture 22" descr="A blue planet with white clouds and stars&#10;&#10;AI-generated content may be incorrect.">
            <a:extLst>
              <a:ext uri="{FF2B5EF4-FFF2-40B4-BE49-F238E27FC236}">
                <a16:creationId xmlns:a16="http://schemas.microsoft.com/office/drawing/2014/main" id="{A9532A4C-C3ED-DBCE-D222-73910B81D4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3312" y="1402787"/>
            <a:ext cx="1339252" cy="1330324"/>
          </a:xfrm>
          <a:prstGeom prst="rect">
            <a:avLst/>
          </a:prstGeom>
        </p:spPr>
      </p:pic>
      <p:pic>
        <p:nvPicPr>
          <p:cNvPr id="24" name="Picture 23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BCDAE437-4D03-56B0-AC4B-41922879911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35407" y="4593826"/>
            <a:ext cx="1347765" cy="1347765"/>
          </a:xfrm>
          <a:prstGeom prst="rect">
            <a:avLst/>
          </a:prstGeom>
        </p:spPr>
      </p:pic>
      <p:pic>
        <p:nvPicPr>
          <p:cNvPr id="25" name="Picture 24" descr="A blue hexagon with white paper with blue numbers on it&#10;&#10;AI-generated content may be incorrect.">
            <a:extLst>
              <a:ext uri="{FF2B5EF4-FFF2-40B4-BE49-F238E27FC236}">
                <a16:creationId xmlns:a16="http://schemas.microsoft.com/office/drawing/2014/main" id="{D024D8E2-C059-68D1-2BF8-367213FC49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7261" y="4405017"/>
            <a:ext cx="1618250" cy="161825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489983D-2195-BFFC-7A72-4B036ECAA57A}"/>
              </a:ext>
            </a:extLst>
          </p:cNvPr>
          <p:cNvCxnSpPr>
            <a:cxnSpLocks/>
          </p:cNvCxnSpPr>
          <p:nvPr/>
        </p:nvCxnSpPr>
        <p:spPr>
          <a:xfrm>
            <a:off x="7060922" y="2114597"/>
            <a:ext cx="1795497" cy="1596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8275E55-EF65-0CDD-817F-9A6B61045FE2}"/>
              </a:ext>
            </a:extLst>
          </p:cNvPr>
          <p:cNvCxnSpPr>
            <a:cxnSpLocks/>
          </p:cNvCxnSpPr>
          <p:nvPr/>
        </p:nvCxnSpPr>
        <p:spPr>
          <a:xfrm>
            <a:off x="6045477" y="2726655"/>
            <a:ext cx="20909" cy="1711221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2E108EE-3532-734F-2C16-02F8D850DE02}"/>
              </a:ext>
            </a:extLst>
          </p:cNvPr>
          <p:cNvCxnSpPr>
            <a:cxnSpLocks/>
          </p:cNvCxnSpPr>
          <p:nvPr/>
        </p:nvCxnSpPr>
        <p:spPr>
          <a:xfrm>
            <a:off x="6854602" y="2733111"/>
            <a:ext cx="2123335" cy="1860715"/>
          </a:xfrm>
          <a:prstGeom prst="straightConnector1">
            <a:avLst/>
          </a:prstGeom>
          <a:ln w="85725">
            <a:solidFill>
              <a:srgbClr val="0481BF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3EBD3A6-4169-19AB-95F1-BB401BBE4549}"/>
              </a:ext>
            </a:extLst>
          </p:cNvPr>
          <p:cNvCxnSpPr>
            <a:cxnSpLocks/>
          </p:cNvCxnSpPr>
          <p:nvPr/>
        </p:nvCxnSpPr>
        <p:spPr>
          <a:xfrm flipH="1">
            <a:off x="7060922" y="5254645"/>
            <a:ext cx="2043147" cy="0"/>
          </a:xfrm>
          <a:prstGeom prst="straightConnector1">
            <a:avLst/>
          </a:prstGeom>
          <a:ln w="85725">
            <a:solidFill>
              <a:srgbClr val="F9CB3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1769C23F-FB1B-DF9C-74A2-A58EF5EF1A6B}"/>
              </a:ext>
            </a:extLst>
          </p:cNvPr>
          <p:cNvSpPr txBox="1"/>
          <p:nvPr/>
        </p:nvSpPr>
        <p:spPr>
          <a:xfrm>
            <a:off x="7833224" y="1607586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CF85072-D228-88B6-F8F1-65EF2F780DED}"/>
              </a:ext>
            </a:extLst>
          </p:cNvPr>
          <p:cNvSpPr txBox="1"/>
          <p:nvPr/>
        </p:nvSpPr>
        <p:spPr>
          <a:xfrm>
            <a:off x="5659872" y="3211101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749E143-6820-7ED6-8DAA-1C15BBE6252F}"/>
              </a:ext>
            </a:extLst>
          </p:cNvPr>
          <p:cNvSpPr txBox="1"/>
          <p:nvPr/>
        </p:nvSpPr>
        <p:spPr>
          <a:xfrm>
            <a:off x="7869668" y="3234290"/>
            <a:ext cx="38664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A5072DA-6334-6944-7B9E-2957A5CC003C}"/>
              </a:ext>
            </a:extLst>
          </p:cNvPr>
          <p:cNvSpPr/>
          <p:nvPr/>
        </p:nvSpPr>
        <p:spPr>
          <a:xfrm flipV="1">
            <a:off x="9182101" y="6473869"/>
            <a:ext cx="3670300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1E2BDAAF-B4A7-F954-C958-68ED1076C8F7}"/>
              </a:ext>
            </a:extLst>
          </p:cNvPr>
          <p:cNvSpPr/>
          <p:nvPr/>
        </p:nvSpPr>
        <p:spPr>
          <a:xfrm flipV="1">
            <a:off x="10289721" y="6316886"/>
            <a:ext cx="256267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EA2B6B8-95DA-8E61-8A76-7FE9DE62385E}"/>
              </a:ext>
            </a:extLst>
          </p:cNvPr>
          <p:cNvSpPr/>
          <p:nvPr/>
        </p:nvSpPr>
        <p:spPr>
          <a:xfrm flipV="1">
            <a:off x="11175651" y="6121800"/>
            <a:ext cx="1676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366496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702FA-2607-5032-1E3C-5BFF204B7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B28D26-5767-9A8C-00C1-DBF62CE4D27A}"/>
              </a:ext>
            </a:extLst>
          </p:cNvPr>
          <p:cNvSpPr/>
          <p:nvPr/>
        </p:nvSpPr>
        <p:spPr>
          <a:xfrm flipV="1">
            <a:off x="-660483" y="6180117"/>
            <a:ext cx="127961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2F2E99B-2EB8-F650-0825-F9BD126B75A7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BD4D0C7-6C77-68AA-14F6-8D023730EE44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E67F555-484A-B4FD-1E75-3597F369C894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773102D-C11C-D345-FDB5-337CCC024E0F}"/>
              </a:ext>
            </a:extLst>
          </p:cNvPr>
          <p:cNvSpPr/>
          <p:nvPr/>
        </p:nvSpPr>
        <p:spPr>
          <a:xfrm>
            <a:off x="0" y="0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72773D8-38E5-3261-0B61-70CD8C3011A5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Sistema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3" name="Picture 2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F8DE548C-5A44-4F03-ED3A-073ADB7BB8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596" y="940777"/>
            <a:ext cx="8928805" cy="5488114"/>
          </a:xfrm>
          <a:prstGeom prst="rect">
            <a:avLst/>
          </a:prstGeom>
        </p:spPr>
      </p:pic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6019B9FD-2D8A-E563-4B8B-A38580B9F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53914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1C3BD-9861-651C-4AED-B9F95164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A7CA8E5-0C0B-3980-E4C3-0310F337227E}"/>
              </a:ext>
            </a:extLst>
          </p:cNvPr>
          <p:cNvSpPr/>
          <p:nvPr/>
        </p:nvSpPr>
        <p:spPr>
          <a:xfrm flipV="1">
            <a:off x="-660400" y="663927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BC5EF91-F4DD-B690-8B79-A0E240C723D5}"/>
              </a:ext>
            </a:extLst>
          </p:cNvPr>
          <p:cNvSpPr/>
          <p:nvPr/>
        </p:nvSpPr>
        <p:spPr>
          <a:xfrm>
            <a:off x="-6297" y="1534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3A0C26D-743C-530D-A0BB-F942630A6A19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Risultati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–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Lettura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 e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scrittura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3866EA-574D-7E9D-3B83-2A4764FA440B}"/>
              </a:ext>
            </a:extLst>
          </p:cNvPr>
          <p:cNvSpPr/>
          <p:nvPr/>
        </p:nvSpPr>
        <p:spPr>
          <a:xfrm flipV="1">
            <a:off x="9182101" y="6473869"/>
            <a:ext cx="3670300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EFD063D-2AE1-86C7-DF89-32E73BF9B647}"/>
              </a:ext>
            </a:extLst>
          </p:cNvPr>
          <p:cNvSpPr/>
          <p:nvPr/>
        </p:nvSpPr>
        <p:spPr>
          <a:xfrm flipV="1">
            <a:off x="10289721" y="6316886"/>
            <a:ext cx="256267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8BB207-35E2-D4DA-8633-5101C0CC7E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59" y="4908919"/>
            <a:ext cx="5784398" cy="1442729"/>
          </a:xfrm>
          <a:prstGeom prst="rect">
            <a:avLst/>
          </a:prstGeom>
        </p:spPr>
      </p:pic>
      <p:sp>
        <p:nvSpPr>
          <p:cNvPr id="44" name="Rectangle 43">
            <a:extLst>
              <a:ext uri="{FF2B5EF4-FFF2-40B4-BE49-F238E27FC236}">
                <a16:creationId xmlns:a16="http://schemas.microsoft.com/office/drawing/2014/main" id="{64B0EDF9-2280-15D6-ACEE-DB220C75013D}"/>
              </a:ext>
            </a:extLst>
          </p:cNvPr>
          <p:cNvSpPr/>
          <p:nvPr/>
        </p:nvSpPr>
        <p:spPr>
          <a:xfrm flipV="1">
            <a:off x="11175651" y="6121800"/>
            <a:ext cx="1676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13" name="Picture 12" descr="A graph with a line&#10;&#10;AI-generated content may be incorrect.">
            <a:extLst>
              <a:ext uri="{FF2B5EF4-FFF2-40B4-BE49-F238E27FC236}">
                <a16:creationId xmlns:a16="http://schemas.microsoft.com/office/drawing/2014/main" id="{37C32BDA-FC69-60E7-000F-18D191CBE5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841" y="2556341"/>
            <a:ext cx="4802233" cy="2406171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8B0CCD8-0FA0-BB6F-36BE-0A7420B3ED6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2560" y="1538380"/>
            <a:ext cx="5420796" cy="900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3D75D2F-C99F-A316-955A-713AD724591F}"/>
              </a:ext>
            </a:extLst>
          </p:cNvPr>
          <p:cNvSpPr txBox="1"/>
          <p:nvPr/>
        </p:nvSpPr>
        <p:spPr>
          <a:xfrm>
            <a:off x="6512560" y="946563"/>
            <a:ext cx="4334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Creazione di eventi</a:t>
            </a:r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88E955-B007-2503-6D95-94893E764ADB}"/>
              </a:ext>
            </a:extLst>
          </p:cNvPr>
          <p:cNvSpPr txBox="1"/>
          <p:nvPr/>
        </p:nvSpPr>
        <p:spPr>
          <a:xfrm>
            <a:off x="202840" y="974587"/>
            <a:ext cx="4334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Lettura di eventi</a:t>
            </a:r>
            <a:endParaRPr lang="it-IT" sz="2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7" name="Picture 26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AE69E40-6EF4-CB4D-643C-9F7AD74DD2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495" y="1551781"/>
            <a:ext cx="5489999" cy="900000"/>
          </a:xfrm>
          <a:prstGeom prst="rect">
            <a:avLst/>
          </a:prstGeom>
        </p:spPr>
      </p:pic>
      <p:pic>
        <p:nvPicPr>
          <p:cNvPr id="31" name="Picture 30" descr="A graph with a line&#10;&#10;AI-generated content may be incorrect.">
            <a:extLst>
              <a:ext uri="{FF2B5EF4-FFF2-40B4-BE49-F238E27FC236}">
                <a16:creationId xmlns:a16="http://schemas.microsoft.com/office/drawing/2014/main" id="{4973A0F8-28E5-F746-AFFF-5A11D887C3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91" y="2714581"/>
            <a:ext cx="4584769" cy="2089689"/>
          </a:xfrm>
          <a:prstGeom prst="rect">
            <a:avLst/>
          </a:prstGeom>
        </p:spPr>
      </p:pic>
      <p:pic>
        <p:nvPicPr>
          <p:cNvPr id="34" name="Picture 3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39ADD577-476D-4FA7-7544-C7CCF14C619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979" y="4978586"/>
            <a:ext cx="5590105" cy="1358116"/>
          </a:xfrm>
          <a:prstGeom prst="rect">
            <a:avLst/>
          </a:prstGeom>
        </p:spPr>
      </p:pic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33503F02-0558-AC57-B15C-573BD82802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4273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3DD1-A3DD-7403-518F-3139D0DA5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5BAD85-D588-944F-170D-5E557834638F}"/>
              </a:ext>
            </a:extLst>
          </p:cNvPr>
          <p:cNvSpPr/>
          <p:nvPr/>
        </p:nvSpPr>
        <p:spPr>
          <a:xfrm flipV="1">
            <a:off x="-660483" y="6180117"/>
            <a:ext cx="127961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6237D4-22FC-0E32-E2E8-6081FF2D6FCE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BC69CDC-DB37-B6D7-CBDD-5A915F77D676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C7A13B-F87B-7417-84D5-5290C734D1D1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3629DB-5A98-597D-C361-9C09714D00C8}"/>
              </a:ext>
            </a:extLst>
          </p:cNvPr>
          <p:cNvSpPr/>
          <p:nvPr/>
        </p:nvSpPr>
        <p:spPr>
          <a:xfrm>
            <a:off x="-6214" y="3726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4B2B530B-4AD3-C2CA-40CB-6185F56EACB6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Risultati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– Aggiornamento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978D7B9-21B6-8F6E-12D2-A02F56B3B5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05" y="1117144"/>
            <a:ext cx="5487001" cy="900000"/>
          </a:xfrm>
          <a:prstGeom prst="rect">
            <a:avLst/>
          </a:prstGeom>
        </p:spPr>
      </p:pic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9ECFD54-387F-D5B4-D91F-53D3F76097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80" y="2778385"/>
            <a:ext cx="6008983" cy="2726181"/>
          </a:xfrm>
          <a:prstGeom prst="rect">
            <a:avLst/>
          </a:prstGeom>
        </p:spPr>
      </p:pic>
      <p:pic>
        <p:nvPicPr>
          <p:cNvPr id="11" name="Picture 10" descr="A graph with a line&#10;&#10;AI-generated content may be incorrect.">
            <a:extLst>
              <a:ext uri="{FF2B5EF4-FFF2-40B4-BE49-F238E27FC236}">
                <a16:creationId xmlns:a16="http://schemas.microsoft.com/office/drawing/2014/main" id="{0CDFD6CC-6D44-6E52-1E9A-B473A01A74A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2933" y="1325569"/>
            <a:ext cx="6335083" cy="28674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0C7CCB-78C8-9DB0-3B4A-6E4E493913A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021" y="4995474"/>
            <a:ext cx="5292666" cy="825805"/>
          </a:xfrm>
          <a:prstGeom prst="rect">
            <a:avLst/>
          </a:prstGeom>
        </p:spPr>
      </p:pic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545EDA36-8145-9778-3405-A96FB335FB0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59198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104F90-214C-7300-675D-9843C7EB5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72C84C0-6354-CEB2-993C-E4E740826E14}"/>
              </a:ext>
            </a:extLst>
          </p:cNvPr>
          <p:cNvSpPr/>
          <p:nvPr/>
        </p:nvSpPr>
        <p:spPr>
          <a:xfrm flipV="1">
            <a:off x="-660400" y="663927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D574AB-5561-E615-00CE-2A80D22964DC}"/>
              </a:ext>
            </a:extLst>
          </p:cNvPr>
          <p:cNvSpPr/>
          <p:nvPr/>
        </p:nvSpPr>
        <p:spPr>
          <a:xfrm>
            <a:off x="-6214" y="3726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4F5FC1D-F075-9061-7F97-281596022B19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Risultati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–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Caricamento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delle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immagini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E257670-D854-630C-573F-D2D57FA8BA9A}"/>
              </a:ext>
            </a:extLst>
          </p:cNvPr>
          <p:cNvSpPr/>
          <p:nvPr/>
        </p:nvSpPr>
        <p:spPr>
          <a:xfrm flipV="1">
            <a:off x="9182101" y="6473869"/>
            <a:ext cx="3670300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2F644D5-B705-A7EF-CFCD-4FF392B55238}"/>
              </a:ext>
            </a:extLst>
          </p:cNvPr>
          <p:cNvSpPr/>
          <p:nvPr/>
        </p:nvSpPr>
        <p:spPr>
          <a:xfrm flipV="1">
            <a:off x="10289721" y="6316886"/>
            <a:ext cx="256267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6D68FF49-C061-4937-7D36-0D6847295198}"/>
              </a:ext>
            </a:extLst>
          </p:cNvPr>
          <p:cNvSpPr/>
          <p:nvPr/>
        </p:nvSpPr>
        <p:spPr>
          <a:xfrm flipV="1">
            <a:off x="11175651" y="6121800"/>
            <a:ext cx="1676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5A596A2D-C24F-D42D-C057-4187624BBE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750" y="1322775"/>
            <a:ext cx="5489997" cy="900000"/>
          </a:xfrm>
          <a:prstGeom prst="rect">
            <a:avLst/>
          </a:prstGeom>
        </p:spPr>
      </p:pic>
      <p:pic>
        <p:nvPicPr>
          <p:cNvPr id="20" name="Picture 19" descr="A line graph with a blue line&#10;&#10;AI-generated content may be incorrect.">
            <a:extLst>
              <a:ext uri="{FF2B5EF4-FFF2-40B4-BE49-F238E27FC236}">
                <a16:creationId xmlns:a16="http://schemas.microsoft.com/office/drawing/2014/main" id="{1A9BE5DB-E696-972C-AD43-D276BCCF86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755" y="3296777"/>
            <a:ext cx="6030949" cy="2825023"/>
          </a:xfrm>
          <a:prstGeom prst="rect">
            <a:avLst/>
          </a:prstGeom>
        </p:spPr>
      </p:pic>
      <p:pic>
        <p:nvPicPr>
          <p:cNvPr id="11" name="Picture 10" descr="A graph showing the time and time&#10;&#10;AI-generated content may be incorrect.">
            <a:extLst>
              <a:ext uri="{FF2B5EF4-FFF2-40B4-BE49-F238E27FC236}">
                <a16:creationId xmlns:a16="http://schemas.microsoft.com/office/drawing/2014/main" id="{74665DC6-CB19-5C3E-670C-00EC61CF2C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9309" y="1941276"/>
            <a:ext cx="5916737" cy="2693950"/>
          </a:xfrm>
          <a:prstGeom prst="rect">
            <a:avLst/>
          </a:prstGeom>
        </p:spPr>
      </p:pic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D57B0E8A-D782-C910-8BB6-27E77B1B073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9395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E184445-E850-951C-C99D-6866ADF75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87762CC-CE13-9E4D-BE3B-C43204F8CB05}"/>
              </a:ext>
            </a:extLst>
          </p:cNvPr>
          <p:cNvSpPr/>
          <p:nvPr/>
        </p:nvSpPr>
        <p:spPr>
          <a:xfrm flipV="1">
            <a:off x="-660483" y="6180117"/>
            <a:ext cx="127961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D71274A-2EC6-D18A-7BC8-5E71A498C94E}"/>
              </a:ext>
            </a:extLst>
          </p:cNvPr>
          <p:cNvSpPr/>
          <p:nvPr/>
        </p:nvSpPr>
        <p:spPr>
          <a:xfrm flipV="1">
            <a:off x="-660483" y="5893198"/>
            <a:ext cx="2194007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D16A114-03F8-8F18-8700-D504C236C482}"/>
              </a:ext>
            </a:extLst>
          </p:cNvPr>
          <p:cNvSpPr/>
          <p:nvPr/>
        </p:nvSpPr>
        <p:spPr>
          <a:xfrm flipV="1">
            <a:off x="-660400" y="658515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81D731-B245-4331-B7A6-840C713EE48A}"/>
              </a:ext>
            </a:extLst>
          </p:cNvPr>
          <p:cNvSpPr/>
          <p:nvPr/>
        </p:nvSpPr>
        <p:spPr>
          <a:xfrm flipV="1">
            <a:off x="-660400" y="6477844"/>
            <a:ext cx="3276009" cy="280233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892EE2D-CE6A-65B8-76FC-3BD8ED469C41}"/>
              </a:ext>
            </a:extLst>
          </p:cNvPr>
          <p:cNvSpPr/>
          <p:nvPr/>
        </p:nvSpPr>
        <p:spPr>
          <a:xfrm>
            <a:off x="-6297" y="-4213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64DBD5FC-EB93-C485-59B1-F7EF10CC186D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Costi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previsti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20" name="Picture 1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5F92624-6B68-812C-89B7-BA19FB424B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138" y="1378457"/>
            <a:ext cx="10289721" cy="3696871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7E02DC0E-6A20-4EE6-A291-B68B552E891D}"/>
              </a:ext>
            </a:extLst>
          </p:cNvPr>
          <p:cNvSpPr txBox="1"/>
          <p:nvPr/>
        </p:nvSpPr>
        <p:spPr>
          <a:xfrm>
            <a:off x="1514087" y="5344669"/>
            <a:ext cx="43342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Totale: circa €150/mese </a:t>
            </a:r>
          </a:p>
        </p:txBody>
      </p:sp>
      <p:pic>
        <p:nvPicPr>
          <p:cNvPr id="2" name="Picture 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DA7B8226-C798-C09B-8E2E-54B5C925AC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5379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5BD0A8-8832-035D-AACB-769CBBE0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990A29B-0C5B-2EF7-453A-A0367F2C175A}"/>
              </a:ext>
            </a:extLst>
          </p:cNvPr>
          <p:cNvSpPr/>
          <p:nvPr/>
        </p:nvSpPr>
        <p:spPr>
          <a:xfrm flipV="1">
            <a:off x="-660400" y="6639279"/>
            <a:ext cx="13017500" cy="760310"/>
          </a:xfrm>
          <a:prstGeom prst="rect">
            <a:avLst/>
          </a:prstGeom>
          <a:solidFill>
            <a:srgbClr val="050F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FB229E-3A5F-8045-BC70-2706425492C1}"/>
              </a:ext>
            </a:extLst>
          </p:cNvPr>
          <p:cNvSpPr/>
          <p:nvPr/>
        </p:nvSpPr>
        <p:spPr>
          <a:xfrm>
            <a:off x="0" y="0"/>
            <a:ext cx="12363617" cy="904875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612BA4E-8887-B73F-FBF3-3CE52D38C911}"/>
              </a:ext>
            </a:extLst>
          </p:cNvPr>
          <p:cNvSpPr txBox="1">
            <a:spLocks/>
          </p:cNvSpPr>
          <p:nvPr/>
        </p:nvSpPr>
        <p:spPr>
          <a:xfrm>
            <a:off x="1224000" y="43200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Sviluppi</a:t>
            </a:r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futuri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3B6E429-755C-6E12-2210-5337E97D374B}"/>
              </a:ext>
            </a:extLst>
          </p:cNvPr>
          <p:cNvSpPr/>
          <p:nvPr/>
        </p:nvSpPr>
        <p:spPr>
          <a:xfrm flipV="1">
            <a:off x="9182101" y="6473869"/>
            <a:ext cx="3670300" cy="356751"/>
          </a:xfrm>
          <a:prstGeom prst="rect">
            <a:avLst/>
          </a:prstGeom>
          <a:solidFill>
            <a:srgbClr val="0481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2EFF708-3177-BC6B-0236-21CEB1ED05FB}"/>
              </a:ext>
            </a:extLst>
          </p:cNvPr>
          <p:cNvSpPr/>
          <p:nvPr/>
        </p:nvSpPr>
        <p:spPr>
          <a:xfrm flipV="1">
            <a:off x="10289721" y="6316886"/>
            <a:ext cx="2562679" cy="322393"/>
          </a:xfrm>
          <a:prstGeom prst="rect">
            <a:avLst/>
          </a:prstGeom>
          <a:solidFill>
            <a:srgbClr val="F80A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2C9AE54-B8CF-F5A4-D46E-35D81AF7D895}"/>
              </a:ext>
            </a:extLst>
          </p:cNvPr>
          <p:cNvSpPr/>
          <p:nvPr/>
        </p:nvSpPr>
        <p:spPr>
          <a:xfrm flipV="1">
            <a:off x="11175651" y="6121800"/>
            <a:ext cx="1676749" cy="322393"/>
          </a:xfrm>
          <a:prstGeom prst="rect">
            <a:avLst/>
          </a:prstGeom>
          <a:solidFill>
            <a:srgbClr val="F9CB3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508452-99A0-A048-2DE9-9130C7AB3AA4}"/>
              </a:ext>
            </a:extLst>
          </p:cNvPr>
          <p:cNvSpPr txBox="1"/>
          <p:nvPr/>
        </p:nvSpPr>
        <p:spPr>
          <a:xfrm>
            <a:off x="978314" y="1462939"/>
            <a:ext cx="67344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Miglioramenti strutturali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Sostituzione delle WebSocket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Integrazione con altre app di calendari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Introduzione di una cache lato server</a:t>
            </a:r>
          </a:p>
        </p:txBody>
      </p:sp>
      <p:pic>
        <p:nvPicPr>
          <p:cNvPr id="6" name="Picture 5" descr="A logo with a person in the middle&#10;&#10;Description automatically generated">
            <a:extLst>
              <a:ext uri="{FF2B5EF4-FFF2-40B4-BE49-F238E27FC236}">
                <a16:creationId xmlns:a16="http://schemas.microsoft.com/office/drawing/2014/main" id="{22548078-4791-63FC-1AA5-981E8E1C4D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97599" y="1282038"/>
            <a:ext cx="3473461" cy="34734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10AD623-DB06-BA52-D77A-BC8781ABF348}"/>
              </a:ext>
            </a:extLst>
          </p:cNvPr>
          <p:cNvSpPr txBox="1"/>
          <p:nvPr/>
        </p:nvSpPr>
        <p:spPr>
          <a:xfrm>
            <a:off x="331187" y="3620222"/>
            <a:ext cx="905135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dirty="0">
                <a:solidFill>
                  <a:srgbClr val="0481B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Funzionalità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Creazione di eventi pubblicamente disponibili 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Gestione della prenotazione e organizzazione</a:t>
            </a:r>
          </a:p>
          <a:p>
            <a:pPr marL="285750" indent="-285750">
              <a:buClr>
                <a:srgbClr val="0481BF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Visualizzazione della disponibilità degli altri profili</a:t>
            </a:r>
          </a:p>
          <a:p>
            <a:pPr marL="285750" indent="-285750">
              <a:buClr>
                <a:srgbClr val="F9CB3B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Implementazione di una chat per ogni gruppo</a:t>
            </a:r>
          </a:p>
          <a:p>
            <a:pPr marL="285750" indent="-285750">
              <a:buClr>
                <a:srgbClr val="F80A60"/>
              </a:buClr>
              <a:buFont typeface="Arial" panose="020B0604020202020204" pitchFamily="34" charset="0"/>
              <a:buChar char="•"/>
            </a:pPr>
            <a:r>
              <a:rPr lang="it-IT" sz="2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Strumenti per l’organizzazione tra gruppi</a:t>
            </a:r>
          </a:p>
        </p:txBody>
      </p:sp>
      <p:pic>
        <p:nvPicPr>
          <p:cNvPr id="3" name="Picture 2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21196C94-9C43-379F-20F1-FF242C7F53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7" y="112346"/>
            <a:ext cx="647127" cy="64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77064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A600E-4F1D-330E-EF6B-73270AA46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441C4F-CFCD-D7A0-68B8-D626C7B9C735}"/>
              </a:ext>
            </a:extLst>
          </p:cNvPr>
          <p:cNvSpPr/>
          <p:nvPr/>
        </p:nvSpPr>
        <p:spPr>
          <a:xfrm>
            <a:off x="0" y="0"/>
            <a:ext cx="12280490" cy="6931742"/>
          </a:xfrm>
          <a:prstGeom prst="rect">
            <a:avLst/>
          </a:prstGeom>
          <a:solidFill>
            <a:srgbClr val="050F2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50F2E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7D667BAF-9568-8F45-17D6-AA7CF16D02EB}"/>
              </a:ext>
            </a:extLst>
          </p:cNvPr>
          <p:cNvSpPr txBox="1">
            <a:spLocks/>
          </p:cNvSpPr>
          <p:nvPr/>
        </p:nvSpPr>
        <p:spPr>
          <a:xfrm>
            <a:off x="1136958" y="-14152"/>
            <a:ext cx="10265610" cy="72557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Grazie per </a:t>
            </a:r>
            <a:r>
              <a:rPr lang="en-US" sz="4000" dirty="0" err="1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l’attenzione</a:t>
            </a:r>
            <a:endParaRPr lang="en-US" sz="4000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pic>
        <p:nvPicPr>
          <p:cNvPr id="11" name="Picture 10" descr="A computer screen shot of a computer network&#10;&#10;AI-generated content may be incorrect.">
            <a:extLst>
              <a:ext uri="{FF2B5EF4-FFF2-40B4-BE49-F238E27FC236}">
                <a16:creationId xmlns:a16="http://schemas.microsoft.com/office/drawing/2014/main" id="{BD5A3E2C-975E-8303-ABC1-6E502A49DD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958" y="1030545"/>
            <a:ext cx="9319186" cy="5728063"/>
          </a:xfrm>
          <a:prstGeom prst="rect">
            <a:avLst/>
          </a:prstGeom>
        </p:spPr>
      </p:pic>
      <p:pic>
        <p:nvPicPr>
          <p:cNvPr id="17" name="Picture 16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29A6E427-8D02-6ED5-C415-809D3BD8CF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0343" y="4671336"/>
            <a:ext cx="370293" cy="367803"/>
          </a:xfrm>
          <a:prstGeom prst="rect">
            <a:avLst/>
          </a:prstGeom>
        </p:spPr>
      </p:pic>
      <p:pic>
        <p:nvPicPr>
          <p:cNvPr id="12" name="Picture 11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B581D871-008A-5EDA-A3D3-6C5B6FDFA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0186" y="4127996"/>
            <a:ext cx="370293" cy="367803"/>
          </a:xfrm>
          <a:prstGeom prst="rect">
            <a:avLst/>
          </a:prstGeom>
        </p:spPr>
      </p:pic>
      <p:pic>
        <p:nvPicPr>
          <p:cNvPr id="13" name="Picture 12" descr="A colorful circle with a person in the middle&#10;&#10;AI-generated content may be incorrect.">
            <a:extLst>
              <a:ext uri="{FF2B5EF4-FFF2-40B4-BE49-F238E27FC236}">
                <a16:creationId xmlns:a16="http://schemas.microsoft.com/office/drawing/2014/main" id="{58CB00ED-9C64-B43D-0530-0AD0168B2F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4976" y="5009322"/>
            <a:ext cx="217893" cy="21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87252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D435AAED14AB4388657F5F2341E48C" ma:contentTypeVersion="16" ma:contentTypeDescription="Create a new document." ma:contentTypeScope="" ma:versionID="ee2a52580933a69a77145318714834cf">
  <xsd:schema xmlns:xsd="http://www.w3.org/2001/XMLSchema" xmlns:xs="http://www.w3.org/2001/XMLSchema" xmlns:p="http://schemas.microsoft.com/office/2006/metadata/properties" xmlns:ns3="eef480d4-252e-46d8-ae6c-3653cef33611" xmlns:ns4="1e53cc8c-2edc-4502-b122-512d31cada6d" targetNamespace="http://schemas.microsoft.com/office/2006/metadata/properties" ma:root="true" ma:fieldsID="16e2fea21cb955add14bee91ffa3d8c2" ns3:_="" ns4:_="">
    <xsd:import namespace="eef480d4-252e-46d8-ae6c-3653cef33611"/>
    <xsd:import namespace="1e53cc8c-2edc-4502-b122-512d31cada6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f480d4-252e-46d8-ae6c-3653cef336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0" nillable="true" ma:displayName="_activity" ma:hidden="true" ma:internalName="_activity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53cc8c-2edc-4502-b122-512d31cada6d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ef480d4-252e-46d8-ae6c-3653cef33611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222E89-586B-4718-AD20-F611320CD1BA}">
  <ds:schemaRefs>
    <ds:schemaRef ds:uri="1e53cc8c-2edc-4502-b122-512d31cada6d"/>
    <ds:schemaRef ds:uri="eef480d4-252e-46d8-ae6c-3653cef3361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FE16AF5-442C-4590-939C-6FBFEF3EE3CA}">
  <ds:schemaRefs>
    <ds:schemaRef ds:uri="http://schemas.microsoft.com/office/infopath/2007/PartnerControls"/>
    <ds:schemaRef ds:uri="http://www.w3.org/XML/1998/namespace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schemas.microsoft.com/office/2006/documentManagement/types"/>
    <ds:schemaRef ds:uri="1e53cc8c-2edc-4502-b122-512d31cada6d"/>
    <ds:schemaRef ds:uri="eef480d4-252e-46d8-ae6c-3653cef33611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777B44A4-C411-4ECC-80E4-2DAD35484A9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2044</TotalTime>
  <Words>635</Words>
  <Application>Microsoft Office PowerPoint</Application>
  <PresentationFormat>Widescreen</PresentationFormat>
  <Paragraphs>216</Paragraphs>
  <Slides>18</Slides>
  <Notes>18</Notes>
  <HiddenSlides>4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Roboto</vt:lpstr>
      <vt:lpstr>Roboto Black</vt:lpstr>
      <vt:lpstr>Roboto Thin</vt:lpstr>
      <vt:lpstr>Office Theme</vt:lpstr>
      <vt:lpstr>PowerPoint Presentation</vt:lpstr>
      <vt:lpstr>WYD - Funzionalità </vt:lpstr>
      <vt:lpstr>WYD - Funzionalità </vt:lpstr>
      <vt:lpstr>Analisi del problema</vt:lpstr>
      <vt:lpstr>PowerPoint Presentation</vt:lpstr>
      <vt:lpstr>Persistenza - Realizzazione </vt:lpstr>
      <vt:lpstr>PowerPoint Presentation</vt:lpstr>
      <vt:lpstr>PowerPoint Presentation</vt:lpstr>
      <vt:lpstr>Client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WYD</dc:title>
  <dc:creator>Piero</dc:creator>
  <cp:lastModifiedBy>Giacomo Romanini - giacomo.romanini3@studio.unibo.it</cp:lastModifiedBy>
  <cp:revision>23</cp:revision>
  <dcterms:created xsi:type="dcterms:W3CDTF">2024-06-19T13:20:08Z</dcterms:created>
  <dcterms:modified xsi:type="dcterms:W3CDTF">2025-07-21T15:14:47Z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0x01010005D435AAED14AB4388657F5F2341E48C</vt:lpwstr>
  </property>
</Properties>
</file>